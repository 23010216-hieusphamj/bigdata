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3" r:id="rId4"/>
    <p:sldId id="261" r:id="rId5"/>
    <p:sldId id="259" r:id="rId6"/>
    <p:sldId id="263" r:id="rId7"/>
    <p:sldId id="267" r:id="rId8"/>
    <p:sldId id="265" r:id="rId9"/>
    <p:sldId id="268" r:id="rId10"/>
    <p:sldId id="271" r:id="rId11"/>
    <p:sldId id="272" r:id="rId12"/>
    <p:sldId id="270" r:id="rId13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A975"/>
    <a:srgbClr val="2071D3"/>
    <a:srgbClr val="F0AC05"/>
    <a:srgbClr val="1ECE29"/>
    <a:srgbClr val="1C7352"/>
    <a:srgbClr val="C90223"/>
    <a:srgbClr val="072F1F"/>
    <a:srgbClr val="382B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22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97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3CA97-A687-40E7-B0E0-AD9D475713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909C6F-70C9-403F-A7FF-1677E62BD1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E2F0F-8270-423C-A141-A5E59F156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C2AB0-D576-4F67-976C-1DD3256C15EA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AEA85-47FB-4986-8591-617421157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A4F21-D064-4EE5-90CE-713553390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F2A7-6C6C-425B-9C76-7C8EFC73DF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07441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14E03-A1B6-43C5-8F25-7046144FC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AB503-D547-46F4-93E2-89C195A41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53966-CB69-4E12-87EA-5DF95481A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C2AB0-D576-4F67-976C-1DD3256C15EA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62095-CC7E-4311-A0BA-42CDD54A5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1B13-0DD2-4D38-89CA-AC3B84217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F2A7-6C6C-425B-9C76-7C8EFC73DF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77347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831A8-9533-4E05-B38F-D1E0D2FA8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D161E-B129-46D1-A185-E02B13928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BB6F-B855-4757-91A5-903187697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C2AB0-D576-4F67-976C-1DD3256C15EA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C8E66-335C-4418-8968-1667A5EF2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E7A5A-AC3F-4749-98D0-78F0EC39E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F2A7-6C6C-425B-9C76-7C8EFC73DF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08921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EC334-38D4-43A2-B56A-BB86414C6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034B2-C80C-4B88-BE67-FB8804FBEE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BBD291-B9CA-4BBA-A399-4E6FFA846A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07ABD-7FA1-4142-937E-F1C9B5B1E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C2AB0-D576-4F67-976C-1DD3256C15EA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67DC0-8527-4559-92E5-CF5844E43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88550F-D164-498C-9BD6-C952F8A27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F2A7-6C6C-425B-9C76-7C8EFC73DF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0240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C8909-8167-4510-B4B7-862C62D1C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F1C40-848F-453C-9D4A-9939FC73E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18D14-67BA-4BD0-81C6-589B2EA4B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BCB83B-29A3-4F9C-9F29-614479B9D2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BBD32A-803E-4E5C-830A-D502B1F06F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0DE3C6-1D28-4CD3-91ED-E37290BAE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C2AB0-D576-4F67-976C-1DD3256C15EA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94C53C-3280-411D-B1AC-11857613A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9854D8-87D0-47B1-9ACC-3897FC722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F2A7-6C6C-425B-9C76-7C8EFC73DF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44499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64327-69F1-4533-9715-3EC27CB9B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3C7C20-7AE9-43BE-B6EC-71C20F983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C2AB0-D576-4F67-976C-1DD3256C15EA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66FC20-33A9-4C6B-BB99-AFDD7E14C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1DA0F-798C-468F-97B7-FF28973F8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F2A7-6C6C-425B-9C76-7C8EFC73DF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53527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A2FEF4-8DF4-4F06-880E-14B3EEE7A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C2AB0-D576-4F67-976C-1DD3256C15EA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221B33-9B40-4C0C-94E2-F120B8D19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43D77-0141-4ECE-AC3D-2B873305B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F2A7-6C6C-425B-9C76-7C8EFC73DF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80072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6D1E-5762-44E8-959C-AF0B24D3F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FC08F-9D0B-4B1C-ABF5-0970DA54D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CCFD4-11CE-4BC1-AD3F-3B19B07AF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510D42-5334-4C19-B98C-8CAC19C32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C2AB0-D576-4F67-976C-1DD3256C15EA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CAD51D-7232-48C1-85E4-1255110DE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EDA5D-9E0F-4461-B7FA-213405A39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F2A7-6C6C-425B-9C76-7C8EFC73DF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99512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F5817-C5F6-4A1A-ACA0-555C6D0C3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E00EEF-F986-4F80-A12C-EFCE3DBA4F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7C5C17-7D49-49DC-A17D-020B25F78F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1913BC-F16F-4661-89D3-B49101D11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C2AB0-D576-4F67-976C-1DD3256C15EA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1008D2-0CB9-42D0-B5EB-4495B36C3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24F2CC-ADAF-44EC-82C8-7A6037DAD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F2A7-6C6C-425B-9C76-7C8EFC73DF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88317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DC7B6-0B16-45D8-B9A3-049D68BE5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BDC8E5-3CCF-43E7-BDAD-B4867BF20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BB9AC-94E1-4F6D-88AE-9488A49E7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C2AB0-D576-4F67-976C-1DD3256C15EA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B00AD-6BD9-46B1-BEA4-013A4A7A7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DC67A-23DB-48EA-A0E1-7C6374B6F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F2A7-6C6C-425B-9C76-7C8EFC73DF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82284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1EB178-54F2-436D-BF45-24185880C0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E0FF6B-3A95-48CC-9A56-1BD320673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FC592-F393-4840-B013-FB188F985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C2AB0-D576-4F67-976C-1DD3256C15EA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D6303-98C4-4F37-8C0A-4D9DF605A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C8C57-7A87-443E-9985-5EAEA34CE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F2A7-6C6C-425B-9C76-7C8EFC73DF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94811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AA5385-4B96-4DEB-8E4E-25A4F05D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A39A0-BD0F-40C4-9F0D-F3314824F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2AF6C-137D-4A88-8E9A-237C19CDEF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C2AB0-D576-4F67-976C-1DD3256C15EA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7D6FC-385B-4A90-ABCD-EF706FEB5B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CB7A-B1B2-421B-AA7F-463E348485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7EF2A7-6C6C-425B-9C76-7C8EFC73DFD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02165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microsoft.com/office/2007/relationships/hdphoto" Target="../media/hdphoto5.wdp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microsoft.com/office/2007/relationships/hdphoto" Target="../media/hdphoto6.wdp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5.png"/><Relationship Id="rId1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4.png"/><Relationship Id="rId2" Type="http://schemas.openxmlformats.org/officeDocument/2006/relationships/image" Target="../media/image1.jpg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microsoft.com/office/2007/relationships/hdphoto" Target="../media/hdphoto5.wdp"/><Relationship Id="rId11" Type="http://schemas.microsoft.com/office/2007/relationships/hdphoto" Target="../media/hdphoto2.wdp"/><Relationship Id="rId5" Type="http://schemas.openxmlformats.org/officeDocument/2006/relationships/image" Target="../media/image6.png"/><Relationship Id="rId15" Type="http://schemas.microsoft.com/office/2007/relationships/hdphoto" Target="../media/hdphoto4.wdp"/><Relationship Id="rId10" Type="http://schemas.openxmlformats.org/officeDocument/2006/relationships/image" Target="../media/image3.png"/><Relationship Id="rId4" Type="http://schemas.microsoft.com/office/2007/relationships/hdphoto" Target="../media/hdphoto1.wdp"/><Relationship Id="rId9" Type="http://schemas.microsoft.com/office/2007/relationships/hdphoto" Target="../media/hdphoto6.wdp"/><Relationship Id="rId1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5.png"/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12" Type="http://schemas.microsoft.com/office/2007/relationships/hdphoto" Target="../media/hdphoto3.wdp"/><Relationship Id="rId2" Type="http://schemas.openxmlformats.org/officeDocument/2006/relationships/image" Target="../media/image10.png"/><Relationship Id="rId16" Type="http://schemas.microsoft.com/office/2007/relationships/hdphoto" Target="../media/hdphoto2.wdp"/><Relationship Id="rId1" Type="http://schemas.openxmlformats.org/officeDocument/2006/relationships/slideLayout" Target="../slideLayouts/slideLayout2.xml"/><Relationship Id="rId6" Type="http://schemas.microsoft.com/office/2007/relationships/hdphoto" Target="../media/hdphoto6.wdp"/><Relationship Id="rId11" Type="http://schemas.openxmlformats.org/officeDocument/2006/relationships/image" Target="../media/image4.png"/><Relationship Id="rId5" Type="http://schemas.openxmlformats.org/officeDocument/2006/relationships/image" Target="../media/image8.png"/><Relationship Id="rId15" Type="http://schemas.openxmlformats.org/officeDocument/2006/relationships/image" Target="../media/image3.png"/><Relationship Id="rId10" Type="http://schemas.openxmlformats.org/officeDocument/2006/relationships/image" Target="../media/image14.png"/><Relationship Id="rId4" Type="http://schemas.openxmlformats.org/officeDocument/2006/relationships/image" Target="../media/image12.png"/><Relationship Id="rId9" Type="http://schemas.microsoft.com/office/2007/relationships/hdphoto" Target="../media/hdphoto5.wdp"/><Relationship Id="rId14" Type="http://schemas.microsoft.com/office/2007/relationships/hdphoto" Target="../media/hdphoto4.wdp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8.wdp"/><Relationship Id="rId3" Type="http://schemas.openxmlformats.org/officeDocument/2006/relationships/image" Target="../media/image16.png"/><Relationship Id="rId7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microsoft.com/office/2007/relationships/hdphoto" Target="../media/hdphoto6.wdp"/><Relationship Id="rId5" Type="http://schemas.openxmlformats.org/officeDocument/2006/relationships/image" Target="../media/image8.png"/><Relationship Id="rId4" Type="http://schemas.microsoft.com/office/2007/relationships/hdphoto" Target="../media/hdphoto7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microsoft.com/office/2007/relationships/hdphoto" Target="../media/hdphoto8.wdp"/><Relationship Id="rId3" Type="http://schemas.openxmlformats.org/officeDocument/2006/relationships/image" Target="../media/image18.png"/><Relationship Id="rId7" Type="http://schemas.microsoft.com/office/2007/relationships/hdphoto" Target="../media/hdphoto9.wdp"/><Relationship Id="rId12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microsoft.com/office/2007/relationships/hdphoto" Target="../media/hdphoto11.wdp"/><Relationship Id="rId5" Type="http://schemas.openxmlformats.org/officeDocument/2006/relationships/image" Target="../media/image8.png"/><Relationship Id="rId10" Type="http://schemas.openxmlformats.org/officeDocument/2006/relationships/image" Target="../media/image21.png"/><Relationship Id="rId4" Type="http://schemas.microsoft.com/office/2007/relationships/hdphoto" Target="../media/hdphoto6.wdp"/><Relationship Id="rId9" Type="http://schemas.microsoft.com/office/2007/relationships/hdphoto" Target="../media/hdphoto10.wdp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12.wdp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microsoft.com/office/2007/relationships/hdphoto" Target="../media/hdphoto6.wdp"/><Relationship Id="rId5" Type="http://schemas.openxmlformats.org/officeDocument/2006/relationships/image" Target="../media/image8.png"/><Relationship Id="rId4" Type="http://schemas.microsoft.com/office/2007/relationships/hdphoto" Target="../media/hdphoto10.wdp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15.wdp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4.wdp"/><Relationship Id="rId5" Type="http://schemas.openxmlformats.org/officeDocument/2006/relationships/image" Target="../media/image24.png"/><Relationship Id="rId4" Type="http://schemas.microsoft.com/office/2007/relationships/hdphoto" Target="../media/hdphoto13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1.wdp"/><Relationship Id="rId5" Type="http://schemas.openxmlformats.org/officeDocument/2006/relationships/image" Target="../media/image21.png"/><Relationship Id="rId4" Type="http://schemas.microsoft.com/office/2007/relationships/hdphoto" Target="../media/hdphoto16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8.wdp"/><Relationship Id="rId3" Type="http://schemas.openxmlformats.org/officeDocument/2006/relationships/image" Target="../media/image16.png"/><Relationship Id="rId7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microsoft.com/office/2007/relationships/hdphoto" Target="../media/hdphoto6.wdp"/><Relationship Id="rId5" Type="http://schemas.openxmlformats.org/officeDocument/2006/relationships/image" Target="../media/image8.png"/><Relationship Id="rId4" Type="http://schemas.microsoft.com/office/2007/relationships/hdphoto" Target="../media/hdphoto7.wdp"/><Relationship Id="rId9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15.wdp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4.wdp"/><Relationship Id="rId5" Type="http://schemas.openxmlformats.org/officeDocument/2006/relationships/image" Target="../media/image24.png"/><Relationship Id="rId4" Type="http://schemas.microsoft.com/office/2007/relationships/hdphoto" Target="../media/hdphoto13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4F10D28-C082-4D15-B7D5-2CE110AC17D9}"/>
              </a:ext>
            </a:extLst>
          </p:cNvPr>
          <p:cNvGrpSpPr/>
          <p:nvPr/>
        </p:nvGrpSpPr>
        <p:grpSpPr>
          <a:xfrm>
            <a:off x="-13252" y="1647"/>
            <a:ext cx="12192000" cy="6858000"/>
            <a:chOff x="0" y="0"/>
            <a:chExt cx="12192000" cy="6858000"/>
          </a:xfrm>
        </p:grpSpPr>
        <p:pic>
          <p:nvPicPr>
            <p:cNvPr id="5" name="Picture 4" descr="A picture containing old, indoor, painting, ceiling&#10;&#10;Description automatically generated">
              <a:extLst>
                <a:ext uri="{FF2B5EF4-FFF2-40B4-BE49-F238E27FC236}">
                  <a16:creationId xmlns:a16="http://schemas.microsoft.com/office/drawing/2014/main" id="{15CA1A7C-C72F-49A0-9254-C8ED71180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tx1"/>
            </a:solidFill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3400767-B86F-467C-9585-111C2EA7D1B0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dk1">
                <a:alpha val="38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ADD08B6-C099-42DF-81B9-416E9CA893EA}"/>
              </a:ext>
            </a:extLst>
          </p:cNvPr>
          <p:cNvGrpSpPr/>
          <p:nvPr/>
        </p:nvGrpSpPr>
        <p:grpSpPr>
          <a:xfrm>
            <a:off x="3208574" y="2228880"/>
            <a:ext cx="6670430" cy="1639999"/>
            <a:chOff x="3172558" y="2508122"/>
            <a:chExt cx="6670430" cy="1639999"/>
          </a:xfrm>
        </p:grpSpPr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76CC3B18-4AAC-4D18-8777-6B51648980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628" t="21044" r="21659" b="7802"/>
          <a:stretch/>
        </p:blipFill>
        <p:spPr>
          <a:xfrm>
            <a:off x="9712570" y="2066192"/>
            <a:ext cx="2582008" cy="48797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8938BDE-77A8-48FA-A999-D00C3062D8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1000" l="10000" r="90000">
                        <a14:foregroundMark x1="56500" y1="11000" x2="33500" y2="15333"/>
                        <a14:foregroundMark x1="38167" y1="12833" x2="53333" y2="11167"/>
                        <a14:foregroundMark x1="53333" y1="11167" x2="58500" y2="11167"/>
                        <a14:foregroundMark x1="62167" y1="12000" x2="70500" y2="15667"/>
                        <a14:foregroundMark x1="48000" y1="10500" x2="53667" y2="10000"/>
                        <a14:foregroundMark x1="59500" y1="10667" x2="62000" y2="11667"/>
                        <a14:foregroundMark x1="71667" y1="17333" x2="77333" y2="22000"/>
                        <a14:foregroundMark x1="77333" y1="22000" x2="77833" y2="22833"/>
                        <a14:foregroundMark x1="78167" y1="25333" x2="81500" y2="33500"/>
                        <a14:foregroundMark x1="82667" y1="37500" x2="82833" y2="42333"/>
                        <a14:foregroundMark x1="79167" y1="44000" x2="78167" y2="50500"/>
                        <a14:foregroundMark x1="77167" y1="52000" x2="72500" y2="57833"/>
                        <a14:foregroundMark x1="72500" y1="57833" x2="70833" y2="59000"/>
                        <a14:foregroundMark x1="81000" y1="36333" x2="81000" y2="36333"/>
                        <a14:foregroundMark x1="68333" y1="60667" x2="67333" y2="66333"/>
                        <a14:foregroundMark x1="67167" y1="70167" x2="68167" y2="76333"/>
                        <a14:foregroundMark x1="67333" y1="79833" x2="64333" y2="86167"/>
                        <a14:foregroundMark x1="62167" y1="83833" x2="67167" y2="78833"/>
                        <a14:foregroundMark x1="67167" y1="78833" x2="67167" y2="78833"/>
                        <a14:foregroundMark x1="62500" y1="88333" x2="55500" y2="91000"/>
                        <a14:foregroundMark x1="55500" y1="91000" x2="49667" y2="86833"/>
                        <a14:foregroundMark x1="49667" y1="86833" x2="49667" y2="83500"/>
                        <a14:foregroundMark x1="47500" y1="90667" x2="38000" y2="89667"/>
                        <a14:foregroundMark x1="38333" y1="88667" x2="37167" y2="83333"/>
                        <a14:foregroundMark x1="37167" y1="83333" x2="33500" y2="76500"/>
                        <a14:foregroundMark x1="33500" y1="76500" x2="33833" y2="62667"/>
                        <a14:foregroundMark x1="33167" y1="61667" x2="23333" y2="49833"/>
                        <a14:foregroundMark x1="23333" y1="49833" x2="23000" y2="48500"/>
                        <a14:foregroundMark x1="21833" y1="47500" x2="17667" y2="36833"/>
                        <a14:foregroundMark x1="17500" y1="34333" x2="18167" y2="26833"/>
                        <a14:foregroundMark x1="18167" y1="26833" x2="22500" y2="20667"/>
                        <a14:foregroundMark x1="22500" y1="20667" x2="28500" y2="17167"/>
                        <a14:foregroundMark x1="32667" y1="15333" x2="28500" y2="15833"/>
                        <a14:foregroundMark x1="24333" y1="54500" x2="29333" y2="581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54187">
            <a:off x="6523071" y="4213918"/>
            <a:ext cx="2431773" cy="24317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A0DF5A7-BA25-4184-A8D1-F236174EFB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152" b="90082" l="9783" r="89946">
                        <a14:foregroundMark x1="47147" y1="9511" x2="41712" y2="13859"/>
                        <a14:foregroundMark x1="41712" y1="13859" x2="41712" y2="13859"/>
                        <a14:foregroundMark x1="41304" y1="13859" x2="36277" y2="12228"/>
                        <a14:foregroundMark x1="34511" y1="14538" x2="39402" y2="19701"/>
                        <a14:foregroundMark x1="39402" y1="19701" x2="39538" y2="19701"/>
                        <a14:foregroundMark x1="35870" y1="12500" x2="34103" y2="14130"/>
                        <a14:foregroundMark x1="40489" y1="21603" x2="40489" y2="23370"/>
                        <a14:foregroundMark x1="34511" y1="11821" x2="34511" y2="11821"/>
                        <a14:foregroundMark x1="37636" y1="23641" x2="28804" y2="32473"/>
                        <a14:foregroundMark x1="33560" y1="25951" x2="27582" y2="33967"/>
                        <a14:foregroundMark x1="27717" y1="34375" x2="23098" y2="43071"/>
                        <a14:foregroundMark x1="22147" y1="43071" x2="21603" y2="50272"/>
                        <a14:foregroundMark x1="20109" y1="52038" x2="23913" y2="63723"/>
                        <a14:foregroundMark x1="26359" y1="59103" x2="26359" y2="59103"/>
                        <a14:foregroundMark x1="32201" y1="64674" x2="35054" y2="70109"/>
                        <a14:foregroundMark x1="24457" y1="66304" x2="25408" y2="70516"/>
                        <a14:foregroundMark x1="19293" y1="51766" x2="19293" y2="51766"/>
                        <a14:foregroundMark x1="20380" y1="50951" x2="21060" y2="50679"/>
                        <a14:foregroundMark x1="26223" y1="72283" x2="26087" y2="76902"/>
                        <a14:foregroundMark x1="27582" y1="78397" x2="31114" y2="80435"/>
                        <a14:foregroundMark x1="32473" y1="80027" x2="37636" y2="78125"/>
                        <a14:foregroundMark x1="35870" y1="80163" x2="39402" y2="83696"/>
                        <a14:foregroundMark x1="36413" y1="83832" x2="35734" y2="81793"/>
                        <a14:foregroundMark x1="39538" y1="86005" x2="46196" y2="90082"/>
                        <a14:foregroundMark x1="46196" y1="90082" x2="46875" y2="90082"/>
                        <a14:foregroundMark x1="50543" y1="89402" x2="50543" y2="89402"/>
                        <a14:foregroundMark x1="50408" y1="87092" x2="50408" y2="87092"/>
                        <a14:foregroundMark x1="41712" y1="89402" x2="41712" y2="89402"/>
                        <a14:foregroundMark x1="39130" y1="89674" x2="39130" y2="89674"/>
                        <a14:foregroundMark x1="52174" y1="90082" x2="58696" y2="90082"/>
                        <a14:foregroundMark x1="61549" y1="88859" x2="61549" y2="88859"/>
                        <a14:foregroundMark x1="61141" y1="86549" x2="61141" y2="86549"/>
                        <a14:foregroundMark x1="60462" y1="85734" x2="60462" y2="84239"/>
                        <a14:foregroundMark x1="62228" y1="83288" x2="63859" y2="82745"/>
                        <a14:foregroundMark x1="64130" y1="80978" x2="64674" y2="78804"/>
                        <a14:foregroundMark x1="65217" y1="76495" x2="64130" y2="71467"/>
                        <a14:foregroundMark x1="63723" y1="70516" x2="63723" y2="66033"/>
                        <a14:foregroundMark x1="64946" y1="65082" x2="68207" y2="63179"/>
                        <a14:foregroundMark x1="69701" y1="60870" x2="72554" y2="59103"/>
                        <a14:foregroundMark x1="77038" y1="50000" x2="73777" y2="58424"/>
                        <a14:foregroundMark x1="78533" y1="50272" x2="79212" y2="46603"/>
                        <a14:foregroundMark x1="79212" y1="46603" x2="79212" y2="46603"/>
                        <a14:foregroundMark x1="79620" y1="44022" x2="79620" y2="43478"/>
                        <a14:foregroundMark x1="78804" y1="42255" x2="75543" y2="40217"/>
                        <a14:foregroundMark x1="74728" y1="39266" x2="71875" y2="33288"/>
                        <a14:foregroundMark x1="71060" y1="30571" x2="70652" y2="29891"/>
                        <a14:foregroundMark x1="67799" y1="27038" x2="67799" y2="27038"/>
                        <a14:foregroundMark x1="65489" y1="25951" x2="64946" y2="25136"/>
                        <a14:foregroundMark x1="60598" y1="23641" x2="63587" y2="24864"/>
                        <a14:foregroundMark x1="67799" y1="23234" x2="68342" y2="21875"/>
                        <a14:foregroundMark x1="67255" y1="19701" x2="64946" y2="18886"/>
                        <a14:foregroundMark x1="64674" y1="18750" x2="63179" y2="18750"/>
                        <a14:foregroundMark x1="61141" y1="18750" x2="61141" y2="18750"/>
                        <a14:foregroundMark x1="60870" y1="16984" x2="60598" y2="15625"/>
                        <a14:foregroundMark x1="59918" y1="12364" x2="59918" y2="12364"/>
                        <a14:foregroundMark x1="58560" y1="11413" x2="60054" y2="12908"/>
                        <a14:foregroundMark x1="57201" y1="10598" x2="54484" y2="11005"/>
                        <a14:foregroundMark x1="52446" y1="10598" x2="52446" y2="10598"/>
                        <a14:foregroundMark x1="51223" y1="9918" x2="51223" y2="9918"/>
                        <a14:foregroundMark x1="50136" y1="9647" x2="50136" y2="9647"/>
                        <a14:foregroundMark x1="49864" y1="9511" x2="49864" y2="9511"/>
                        <a14:foregroundMark x1="48234" y1="9103" x2="48234" y2="9103"/>
                        <a14:foregroundMark x1="48098" y1="8152" x2="48098" y2="81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07694">
            <a:off x="3117440" y="4249660"/>
            <a:ext cx="2513002" cy="251300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94AD70C-4B20-4CB6-AAA5-5289FD08A0C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2983" b="96307" l="2557" r="96307">
                        <a14:foregroundMark x1="59091" y1="5824" x2="24858" y2="8381"/>
                        <a14:foregroundMark x1="39915" y1="5824" x2="55114" y2="2983"/>
                        <a14:foregroundMark x1="55114" y1="2983" x2="59659" y2="4545"/>
                        <a14:foregroundMark x1="63636" y1="5540" x2="74290" y2="16193"/>
                        <a14:foregroundMark x1="74290" y1="16193" x2="74290" y2="16193"/>
                        <a14:foregroundMark x1="61080" y1="5540" x2="63494" y2="6108"/>
                        <a14:foregroundMark x1="65767" y1="6818" x2="70597" y2="10653"/>
                        <a14:foregroundMark x1="71875" y1="12358" x2="76420" y2="18892"/>
                        <a14:foregroundMark x1="77841" y1="21733" x2="80682" y2="25994"/>
                        <a14:foregroundMark x1="82244" y1="26705" x2="88210" y2="32670"/>
                        <a14:foregroundMark x1="89489" y1="36080" x2="90057" y2="41903"/>
                        <a14:foregroundMark x1="89773" y1="35085" x2="89773" y2="35085"/>
                        <a14:foregroundMark x1="89063" y1="43182" x2="93466" y2="46733"/>
                        <a14:foregroundMark x1="93466" y1="48295" x2="91335" y2="54972"/>
                        <a14:foregroundMark x1="91335" y1="58097" x2="87784" y2="64347"/>
                        <a14:foregroundMark x1="87784" y1="64347" x2="82813" y2="65909"/>
                        <a14:foregroundMark x1="82454" y1="67898" x2="83949" y2="71449"/>
                        <a14:foregroundMark x1="81676" y1="66051" x2="82454" y2="67898"/>
                        <a14:foregroundMark x1="87500" y1="69744" x2="92756" y2="69602"/>
                        <a14:foregroundMark x1="93892" y1="70028" x2="96307" y2="75994"/>
                        <a14:foregroundMark x1="95597" y1="78125" x2="90057" y2="82670"/>
                        <a14:foregroundMark x1="89773" y1="84801" x2="87216" y2="90199"/>
                        <a14:foregroundMark x1="85227" y1="92898" x2="85227" y2="92898"/>
                        <a14:foregroundMark x1="82955" y1="93324" x2="79261" y2="94318"/>
                        <a14:foregroundMark x1="75426" y1="96307" x2="70881" y2="95455"/>
                        <a14:foregroundMark x1="64631" y1="93324" x2="58949" y2="95313"/>
                        <a14:foregroundMark x1="57955" y1="95455" x2="54119" y2="93466"/>
                        <a14:foregroundMark x1="48153" y1="92330" x2="48153" y2="92330"/>
                        <a14:foregroundMark x1="45881" y1="93892" x2="40341" y2="93750"/>
                        <a14:foregroundMark x1="39063" y1="93466" x2="34233" y2="91761"/>
                        <a14:foregroundMark x1="33381" y1="88920" x2="37358" y2="86790"/>
                        <a14:foregroundMark x1="33665" y1="85369" x2="30824" y2="85085"/>
                        <a14:foregroundMark x1="30256" y1="82670" x2="30256" y2="82670"/>
                        <a14:foregroundMark x1="30256" y1="80256" x2="30256" y2="80256"/>
                        <a14:foregroundMark x1="27131" y1="83239" x2="27131" y2="83239"/>
                        <a14:foregroundMark x1="23580" y1="82813" x2="23580" y2="82813"/>
                        <a14:foregroundMark x1="22585" y1="80256" x2="22585" y2="80256"/>
                        <a14:foregroundMark x1="23153" y1="82102" x2="26136" y2="83097"/>
                        <a14:foregroundMark x1="22727" y1="80114" x2="21165" y2="78693"/>
                        <a14:foregroundMark x1="20597" y1="78267" x2="19744" y2="77983"/>
                        <a14:foregroundMark x1="18608" y1="76705" x2="17756" y2="74716"/>
                        <a14:foregroundMark x1="18750" y1="72443" x2="18750" y2="72443"/>
                        <a14:foregroundMark x1="16619" y1="73580" x2="11080" y2="72727"/>
                        <a14:foregroundMark x1="8949" y1="71165" x2="8239" y2="70028"/>
                        <a14:foregroundMark x1="7670" y1="65483" x2="7670" y2="44176"/>
                        <a14:foregroundMark x1="3977" y1="58807" x2="6392" y2="64347"/>
                        <a14:foregroundMark x1="7244" y1="51420" x2="2983" y2="57386"/>
                        <a14:foregroundMark x1="2983" y1="57386" x2="2983" y2="57386"/>
                        <a14:foregroundMark x1="6960" y1="48864" x2="2557" y2="44176"/>
                        <a14:foregroundMark x1="3977" y1="43182" x2="7528" y2="36790"/>
                        <a14:foregroundMark x1="7528" y1="36790" x2="8097" y2="36364"/>
                        <a14:foregroundMark x1="9517" y1="33239" x2="12500" y2="26278"/>
                        <a14:foregroundMark x1="12500" y1="26278" x2="13068" y2="25710"/>
                        <a14:foregroundMark x1="7244" y1="34375" x2="3977" y2="39347"/>
                        <a14:foregroundMark x1="14063" y1="25568" x2="17045" y2="17614"/>
                        <a14:foregroundMark x1="20028" y1="14915" x2="24290" y2="10938"/>
                        <a14:foregroundMark x1="24858" y1="10511" x2="25710" y2="9801"/>
                        <a14:foregroundMark x1="16335" y1="16619" x2="24858" y2="9517"/>
                        <a14:foregroundMark x1="29688" y1="7102" x2="37216" y2="6108"/>
                        <a14:foregroundMark x1="37216" y1="6108" x2="37358" y2="6108"/>
                        <a14:foregroundMark x1="39347" y1="5398" x2="36364" y2="5540"/>
                        <a14:foregroundMark x1="31392" y1="6108" x2="31392" y2="6108"/>
                        <a14:foregroundMark x1="91335" y1="61506" x2="91335" y2="61506"/>
                        <a14:foregroundMark x1="9943" y1="71733" x2="7528" y2="68892"/>
                        <a14:backgroundMark x1="2557" y1="49716" x2="2557" y2="49716"/>
                        <a14:backgroundMark x1="84943" y1="67898" x2="84943" y2="678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9341" y="4240623"/>
            <a:ext cx="1901968" cy="190196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3CBFCD1-70D0-4C31-95CE-77D8396CD75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29844" b="43203" l="15556" r="45000">
                        <a14:foregroundMark x1="33750" y1="29844" x2="33750" y2="29844"/>
                        <a14:foregroundMark x1="15694" y1="35234" x2="15694" y2="35234"/>
                        <a14:foregroundMark x1="27222" y1="42109" x2="27222" y2="42109"/>
                        <a14:foregroundMark x1="45000" y1="37266" x2="45000" y2="37266"/>
                        <a14:foregroundMark x1="29028" y1="43203" x2="29028" y2="432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933" t="28377" r="51746" b="56064"/>
          <a:stretch/>
        </p:blipFill>
        <p:spPr>
          <a:xfrm rot="884860">
            <a:off x="9435129" y="69558"/>
            <a:ext cx="2383944" cy="1815455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C52982-365F-43E1-9004-371C4179C1E7}"/>
              </a:ext>
            </a:extLst>
          </p:cNvPr>
          <p:cNvSpPr/>
          <p:nvPr/>
        </p:nvSpPr>
        <p:spPr>
          <a:xfrm>
            <a:off x="13252" y="-13252"/>
            <a:ext cx="5009322" cy="2239617"/>
          </a:xfrm>
          <a:custGeom>
            <a:avLst/>
            <a:gdLst>
              <a:gd name="connsiteX0" fmla="*/ 0 w 5009322"/>
              <a:gd name="connsiteY0" fmla="*/ 2239617 h 2239617"/>
              <a:gd name="connsiteX1" fmla="*/ 1126435 w 5009322"/>
              <a:gd name="connsiteY1" fmla="*/ 2014330 h 2239617"/>
              <a:gd name="connsiteX2" fmla="*/ 1643270 w 5009322"/>
              <a:gd name="connsiteY2" fmla="*/ 1603513 h 2239617"/>
              <a:gd name="connsiteX3" fmla="*/ 2305878 w 5009322"/>
              <a:gd name="connsiteY3" fmla="*/ 1590261 h 2239617"/>
              <a:gd name="connsiteX4" fmla="*/ 2849218 w 5009322"/>
              <a:gd name="connsiteY4" fmla="*/ 1272209 h 2239617"/>
              <a:gd name="connsiteX5" fmla="*/ 3352800 w 5009322"/>
              <a:gd name="connsiteY5" fmla="*/ 781878 h 2239617"/>
              <a:gd name="connsiteX6" fmla="*/ 4108174 w 5009322"/>
              <a:gd name="connsiteY6" fmla="*/ 662609 h 2239617"/>
              <a:gd name="connsiteX7" fmla="*/ 4638261 w 5009322"/>
              <a:gd name="connsiteY7" fmla="*/ 291548 h 2239617"/>
              <a:gd name="connsiteX8" fmla="*/ 5009322 w 5009322"/>
              <a:gd name="connsiteY8" fmla="*/ 0 h 2239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09322" h="2239617">
                <a:moveTo>
                  <a:pt x="0" y="2239617"/>
                </a:moveTo>
                <a:cubicBezTo>
                  <a:pt x="426278" y="2179982"/>
                  <a:pt x="852557" y="2120347"/>
                  <a:pt x="1126435" y="2014330"/>
                </a:cubicBezTo>
                <a:cubicBezTo>
                  <a:pt x="1400313" y="1908313"/>
                  <a:pt x="1446696" y="1674191"/>
                  <a:pt x="1643270" y="1603513"/>
                </a:cubicBezTo>
                <a:cubicBezTo>
                  <a:pt x="1839844" y="1532835"/>
                  <a:pt x="2104887" y="1645478"/>
                  <a:pt x="2305878" y="1590261"/>
                </a:cubicBezTo>
                <a:cubicBezTo>
                  <a:pt x="2506869" y="1535044"/>
                  <a:pt x="2674731" y="1406939"/>
                  <a:pt x="2849218" y="1272209"/>
                </a:cubicBezTo>
                <a:cubicBezTo>
                  <a:pt x="3023705" y="1137479"/>
                  <a:pt x="3142974" y="883478"/>
                  <a:pt x="3352800" y="781878"/>
                </a:cubicBezTo>
                <a:cubicBezTo>
                  <a:pt x="3562626" y="680278"/>
                  <a:pt x="3893931" y="744331"/>
                  <a:pt x="4108174" y="662609"/>
                </a:cubicBezTo>
                <a:cubicBezTo>
                  <a:pt x="4322418" y="580887"/>
                  <a:pt x="4488070" y="401983"/>
                  <a:pt x="4638261" y="291548"/>
                </a:cubicBezTo>
                <a:cubicBezTo>
                  <a:pt x="4788452" y="181113"/>
                  <a:pt x="4918766" y="70678"/>
                  <a:pt x="5009322" y="0"/>
                </a:cubicBezTo>
              </a:path>
            </a:pathLst>
          </a:cu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23CADED-EEEE-4C27-A3AB-0D90297AA29B}"/>
              </a:ext>
            </a:extLst>
          </p:cNvPr>
          <p:cNvSpPr/>
          <p:nvPr/>
        </p:nvSpPr>
        <p:spPr>
          <a:xfrm>
            <a:off x="-338052" y="-213880"/>
            <a:ext cx="6103399" cy="2239617"/>
          </a:xfrm>
          <a:custGeom>
            <a:avLst/>
            <a:gdLst>
              <a:gd name="connsiteX0" fmla="*/ 0 w 5009322"/>
              <a:gd name="connsiteY0" fmla="*/ 2239617 h 2239617"/>
              <a:gd name="connsiteX1" fmla="*/ 1126435 w 5009322"/>
              <a:gd name="connsiteY1" fmla="*/ 2014330 h 2239617"/>
              <a:gd name="connsiteX2" fmla="*/ 1643270 w 5009322"/>
              <a:gd name="connsiteY2" fmla="*/ 1603513 h 2239617"/>
              <a:gd name="connsiteX3" fmla="*/ 2305878 w 5009322"/>
              <a:gd name="connsiteY3" fmla="*/ 1590261 h 2239617"/>
              <a:gd name="connsiteX4" fmla="*/ 2849218 w 5009322"/>
              <a:gd name="connsiteY4" fmla="*/ 1272209 h 2239617"/>
              <a:gd name="connsiteX5" fmla="*/ 3352800 w 5009322"/>
              <a:gd name="connsiteY5" fmla="*/ 781878 h 2239617"/>
              <a:gd name="connsiteX6" fmla="*/ 4108174 w 5009322"/>
              <a:gd name="connsiteY6" fmla="*/ 662609 h 2239617"/>
              <a:gd name="connsiteX7" fmla="*/ 4638261 w 5009322"/>
              <a:gd name="connsiteY7" fmla="*/ 291548 h 2239617"/>
              <a:gd name="connsiteX8" fmla="*/ 5009322 w 5009322"/>
              <a:gd name="connsiteY8" fmla="*/ 0 h 2239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09322" h="2239617">
                <a:moveTo>
                  <a:pt x="0" y="2239617"/>
                </a:moveTo>
                <a:cubicBezTo>
                  <a:pt x="426278" y="2179982"/>
                  <a:pt x="852557" y="2120347"/>
                  <a:pt x="1126435" y="2014330"/>
                </a:cubicBezTo>
                <a:cubicBezTo>
                  <a:pt x="1400313" y="1908313"/>
                  <a:pt x="1446696" y="1674191"/>
                  <a:pt x="1643270" y="1603513"/>
                </a:cubicBezTo>
                <a:cubicBezTo>
                  <a:pt x="1839844" y="1532835"/>
                  <a:pt x="2104887" y="1645478"/>
                  <a:pt x="2305878" y="1590261"/>
                </a:cubicBezTo>
                <a:cubicBezTo>
                  <a:pt x="2506869" y="1535044"/>
                  <a:pt x="2674731" y="1406939"/>
                  <a:pt x="2849218" y="1272209"/>
                </a:cubicBezTo>
                <a:cubicBezTo>
                  <a:pt x="3023705" y="1137479"/>
                  <a:pt x="3142974" y="883478"/>
                  <a:pt x="3352800" y="781878"/>
                </a:cubicBezTo>
                <a:cubicBezTo>
                  <a:pt x="3562626" y="680278"/>
                  <a:pt x="3893931" y="744331"/>
                  <a:pt x="4108174" y="662609"/>
                </a:cubicBezTo>
                <a:cubicBezTo>
                  <a:pt x="4322418" y="580887"/>
                  <a:pt x="4488070" y="401983"/>
                  <a:pt x="4638261" y="291548"/>
                </a:cubicBezTo>
                <a:cubicBezTo>
                  <a:pt x="4788452" y="181113"/>
                  <a:pt x="4918766" y="70678"/>
                  <a:pt x="5009322" y="0"/>
                </a:cubicBezTo>
              </a:path>
            </a:pathLst>
          </a:cu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F1CC8B9-5BC6-4262-8785-3F4A3D0BD30B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4063" b="29453" l="7639" r="48750">
                        <a14:foregroundMark x1="21389" y1="14141" x2="20417" y2="14063"/>
                        <a14:foregroundMark x1="7639" y1="29531" x2="7639" y2="29531"/>
                        <a14:foregroundMark x1="48750" y1="24297" x2="48750" y2="24297"/>
                        <a14:foregroundMark x1="28333" y1="21484" x2="28333" y2="21484"/>
                        <a14:foregroundMark x1="32639" y1="23672" x2="32639" y2="23672"/>
                        <a14:foregroundMark x1="40000" y1="22656" x2="40000" y2="226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967" t="12735" r="47252" b="69082"/>
          <a:stretch/>
        </p:blipFill>
        <p:spPr>
          <a:xfrm rot="20399826">
            <a:off x="1658976" y="986680"/>
            <a:ext cx="3201774" cy="212160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610F352-2DAC-4F59-8B5F-0BAA56F2E9F5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980" b="89920" l="9929" r="91135">
                        <a14:foregroundMark x1="91135" y1="56986" x2="91135" y2="56986"/>
                        <a14:foregroundMark x1="48936" y1="27246" x2="48936" y2="27246"/>
                        <a14:foregroundMark x1="63652" y1="27844" x2="63652" y2="27844"/>
                        <a14:foregroundMark x1="63475" y1="27844" x2="63475" y2="27844"/>
                        <a14:foregroundMark x1="62766" y1="27246" x2="62766" y2="27246"/>
                        <a14:foregroundMark x1="62766" y1="27246" x2="63652" y2="29541"/>
                        <a14:foregroundMark x1="62766" y1="27046" x2="62766" y2="27046"/>
                        <a14:foregroundMark x1="61348" y1="26647" x2="61348" y2="26647"/>
                        <a14:foregroundMark x1="53369" y1="25349" x2="53369" y2="25349"/>
                        <a14:foregroundMark x1="54787" y1="24750" x2="54787" y2="24750"/>
                        <a14:foregroundMark x1="43440" y1="69760" x2="43440" y2="69760"/>
                        <a14:backgroundMark x1="70567" y1="75549" x2="67908" y2="765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47" t="22166" b="21093"/>
          <a:stretch/>
        </p:blipFill>
        <p:spPr>
          <a:xfrm>
            <a:off x="-78965" y="3591909"/>
            <a:ext cx="3208574" cy="334986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017520" y="2103120"/>
            <a:ext cx="7040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dirty="0">
                <a:solidFill>
                  <a:srgbClr val="FFFFFF"/>
                </a:solidFill>
                <a:latin typeface="Harry P"/>
              </a:rPr>
              <a:t>TỐI ƯU SQL</a:t>
            </a:r>
          </a:p>
          <a:p>
            <a:r>
              <a:rPr sz="5400" dirty="0">
                <a:solidFill>
                  <a:srgbClr val="FFFFFF"/>
                </a:solidFill>
                <a:latin typeface="Harry P"/>
              </a:rPr>
              <a:t>CHO BIG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0040"/>
            <a:ext cx="877824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dirty="0">
                <a:solidFill>
                  <a:srgbClr val="FFFFFF"/>
                </a:solidFill>
                <a:latin typeface="Harry P" panose="00000400000000000000" pitchFamily="2" charset="0"/>
              </a:rPr>
              <a:t>BÀI TẬP LỚN · TÍCH HỢP VÀ PHÂN TÍCH DỮ LIỆU LỚN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840480"/>
            <a:ext cx="658368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dirty="0" err="1">
                <a:solidFill>
                  <a:srgbClr val="FFFFFF"/>
                </a:solidFill>
                <a:latin typeface="Harry P" panose="00000400000000000000" pitchFamily="2" charset="0"/>
              </a:rPr>
              <a:t>Nhóm</a:t>
            </a:r>
            <a:r>
              <a:rPr b="0" dirty="0">
                <a:solidFill>
                  <a:srgbClr val="FFFFFF"/>
                </a:solidFill>
                <a:latin typeface="Harry P" panose="00000400000000000000" pitchFamily="2" charset="0"/>
              </a:rPr>
              <a:t> 14: Phạm Bá Hiếu · Đào Quỳnh Nga · Đoàn Thị Thu Thảo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731520"/>
            <a:ext cx="877824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dirty="0">
                <a:solidFill>
                  <a:srgbClr val="FFFFFF"/>
                </a:solidFill>
                <a:latin typeface="Harry P" panose="00000400000000000000" pitchFamily="2" charset="0"/>
              </a:rPr>
              <a:t>GV: </a:t>
            </a:r>
            <a:r>
              <a:rPr b="0" dirty="0" err="1">
                <a:solidFill>
                  <a:srgbClr val="FFFFFF"/>
                </a:solidFill>
                <a:latin typeface="Harry P" panose="00000400000000000000" pitchFamily="2" charset="0"/>
              </a:rPr>
              <a:t>ThS</a:t>
            </a:r>
            <a:r>
              <a:rPr b="0" dirty="0">
                <a:solidFill>
                  <a:srgbClr val="FFFFFF"/>
                </a:solidFill>
                <a:latin typeface="Harry P" panose="00000400000000000000" pitchFamily="2" charset="0"/>
              </a:rPr>
              <a:t>. NCS. Bùi Anh Tuấn</a:t>
            </a:r>
          </a:p>
        </p:txBody>
      </p:sp>
    </p:spTree>
    <p:extLst>
      <p:ext uri="{BB962C8B-B14F-4D97-AF65-F5344CB8AC3E}">
        <p14:creationId xmlns:p14="http://schemas.microsoft.com/office/powerpoint/2010/main" val="4252836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0" fill="hold"/>
                                        <p:tgtEl>
                                          <p:spTgt spid="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4F10D28-C082-4D15-B7D5-2CE110AC17D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5" name="Picture 4" descr="A picture containing old, indoor, painting, ceiling&#10;&#10;Description automatically generated">
              <a:extLst>
                <a:ext uri="{FF2B5EF4-FFF2-40B4-BE49-F238E27FC236}">
                  <a16:creationId xmlns:a16="http://schemas.microsoft.com/office/drawing/2014/main" id="{15CA1A7C-C72F-49A0-9254-C8ED71180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tx1"/>
            </a:solidFill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3400767-B86F-467C-9585-111C2EA7D1B0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dk1">
                <a:alpha val="38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76CC3B18-4AAC-4D18-8777-6B51648980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628" t="21044" r="21659" b="7802"/>
          <a:stretch/>
        </p:blipFill>
        <p:spPr>
          <a:xfrm>
            <a:off x="9712570" y="2066192"/>
            <a:ext cx="2582008" cy="487973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3CBFCD1-70D0-4C31-95CE-77D8396CD75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9844" b="43203" l="15556" r="45000">
                        <a14:foregroundMark x1="33750" y1="29844" x2="33750" y2="29844"/>
                        <a14:foregroundMark x1="15694" y1="35234" x2="15694" y2="35234"/>
                        <a14:foregroundMark x1="27222" y1="42109" x2="27222" y2="42109"/>
                        <a14:foregroundMark x1="45000" y1="37266" x2="45000" y2="37266"/>
                        <a14:foregroundMark x1="29028" y1="43203" x2="29028" y2="432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933" t="28377" r="51746" b="56064"/>
          <a:stretch/>
        </p:blipFill>
        <p:spPr>
          <a:xfrm rot="884860">
            <a:off x="9435129" y="69558"/>
            <a:ext cx="2383944" cy="1815455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C52982-365F-43E1-9004-371C4179C1E7}"/>
              </a:ext>
            </a:extLst>
          </p:cNvPr>
          <p:cNvSpPr/>
          <p:nvPr/>
        </p:nvSpPr>
        <p:spPr>
          <a:xfrm>
            <a:off x="13252" y="-13252"/>
            <a:ext cx="5009322" cy="2239617"/>
          </a:xfrm>
          <a:custGeom>
            <a:avLst/>
            <a:gdLst>
              <a:gd name="connsiteX0" fmla="*/ 0 w 5009322"/>
              <a:gd name="connsiteY0" fmla="*/ 2239617 h 2239617"/>
              <a:gd name="connsiteX1" fmla="*/ 1126435 w 5009322"/>
              <a:gd name="connsiteY1" fmla="*/ 2014330 h 2239617"/>
              <a:gd name="connsiteX2" fmla="*/ 1643270 w 5009322"/>
              <a:gd name="connsiteY2" fmla="*/ 1603513 h 2239617"/>
              <a:gd name="connsiteX3" fmla="*/ 2305878 w 5009322"/>
              <a:gd name="connsiteY3" fmla="*/ 1590261 h 2239617"/>
              <a:gd name="connsiteX4" fmla="*/ 2849218 w 5009322"/>
              <a:gd name="connsiteY4" fmla="*/ 1272209 h 2239617"/>
              <a:gd name="connsiteX5" fmla="*/ 3352800 w 5009322"/>
              <a:gd name="connsiteY5" fmla="*/ 781878 h 2239617"/>
              <a:gd name="connsiteX6" fmla="*/ 4108174 w 5009322"/>
              <a:gd name="connsiteY6" fmla="*/ 662609 h 2239617"/>
              <a:gd name="connsiteX7" fmla="*/ 4638261 w 5009322"/>
              <a:gd name="connsiteY7" fmla="*/ 291548 h 2239617"/>
              <a:gd name="connsiteX8" fmla="*/ 5009322 w 5009322"/>
              <a:gd name="connsiteY8" fmla="*/ 0 h 2239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09322" h="2239617">
                <a:moveTo>
                  <a:pt x="0" y="2239617"/>
                </a:moveTo>
                <a:cubicBezTo>
                  <a:pt x="426278" y="2179982"/>
                  <a:pt x="852557" y="2120347"/>
                  <a:pt x="1126435" y="2014330"/>
                </a:cubicBezTo>
                <a:cubicBezTo>
                  <a:pt x="1400313" y="1908313"/>
                  <a:pt x="1446696" y="1674191"/>
                  <a:pt x="1643270" y="1603513"/>
                </a:cubicBezTo>
                <a:cubicBezTo>
                  <a:pt x="1839844" y="1532835"/>
                  <a:pt x="2104887" y="1645478"/>
                  <a:pt x="2305878" y="1590261"/>
                </a:cubicBezTo>
                <a:cubicBezTo>
                  <a:pt x="2506869" y="1535044"/>
                  <a:pt x="2674731" y="1406939"/>
                  <a:pt x="2849218" y="1272209"/>
                </a:cubicBezTo>
                <a:cubicBezTo>
                  <a:pt x="3023705" y="1137479"/>
                  <a:pt x="3142974" y="883478"/>
                  <a:pt x="3352800" y="781878"/>
                </a:cubicBezTo>
                <a:cubicBezTo>
                  <a:pt x="3562626" y="680278"/>
                  <a:pt x="3893931" y="744331"/>
                  <a:pt x="4108174" y="662609"/>
                </a:cubicBezTo>
                <a:cubicBezTo>
                  <a:pt x="4322418" y="580887"/>
                  <a:pt x="4488070" y="401983"/>
                  <a:pt x="4638261" y="291548"/>
                </a:cubicBezTo>
                <a:cubicBezTo>
                  <a:pt x="4788452" y="181113"/>
                  <a:pt x="4918766" y="70678"/>
                  <a:pt x="5009322" y="0"/>
                </a:cubicBezTo>
              </a:path>
            </a:pathLst>
          </a:cu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23CADED-EEEE-4C27-A3AB-0D90297AA29B}"/>
              </a:ext>
            </a:extLst>
          </p:cNvPr>
          <p:cNvSpPr/>
          <p:nvPr/>
        </p:nvSpPr>
        <p:spPr>
          <a:xfrm>
            <a:off x="-338052" y="-213880"/>
            <a:ext cx="6103399" cy="2239617"/>
          </a:xfrm>
          <a:custGeom>
            <a:avLst/>
            <a:gdLst>
              <a:gd name="connsiteX0" fmla="*/ 0 w 5009322"/>
              <a:gd name="connsiteY0" fmla="*/ 2239617 h 2239617"/>
              <a:gd name="connsiteX1" fmla="*/ 1126435 w 5009322"/>
              <a:gd name="connsiteY1" fmla="*/ 2014330 h 2239617"/>
              <a:gd name="connsiteX2" fmla="*/ 1643270 w 5009322"/>
              <a:gd name="connsiteY2" fmla="*/ 1603513 h 2239617"/>
              <a:gd name="connsiteX3" fmla="*/ 2305878 w 5009322"/>
              <a:gd name="connsiteY3" fmla="*/ 1590261 h 2239617"/>
              <a:gd name="connsiteX4" fmla="*/ 2849218 w 5009322"/>
              <a:gd name="connsiteY4" fmla="*/ 1272209 h 2239617"/>
              <a:gd name="connsiteX5" fmla="*/ 3352800 w 5009322"/>
              <a:gd name="connsiteY5" fmla="*/ 781878 h 2239617"/>
              <a:gd name="connsiteX6" fmla="*/ 4108174 w 5009322"/>
              <a:gd name="connsiteY6" fmla="*/ 662609 h 2239617"/>
              <a:gd name="connsiteX7" fmla="*/ 4638261 w 5009322"/>
              <a:gd name="connsiteY7" fmla="*/ 291548 h 2239617"/>
              <a:gd name="connsiteX8" fmla="*/ 5009322 w 5009322"/>
              <a:gd name="connsiteY8" fmla="*/ 0 h 2239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09322" h="2239617">
                <a:moveTo>
                  <a:pt x="0" y="2239617"/>
                </a:moveTo>
                <a:cubicBezTo>
                  <a:pt x="426278" y="2179982"/>
                  <a:pt x="852557" y="2120347"/>
                  <a:pt x="1126435" y="2014330"/>
                </a:cubicBezTo>
                <a:cubicBezTo>
                  <a:pt x="1400313" y="1908313"/>
                  <a:pt x="1446696" y="1674191"/>
                  <a:pt x="1643270" y="1603513"/>
                </a:cubicBezTo>
                <a:cubicBezTo>
                  <a:pt x="1839844" y="1532835"/>
                  <a:pt x="2104887" y="1645478"/>
                  <a:pt x="2305878" y="1590261"/>
                </a:cubicBezTo>
                <a:cubicBezTo>
                  <a:pt x="2506869" y="1535044"/>
                  <a:pt x="2674731" y="1406939"/>
                  <a:pt x="2849218" y="1272209"/>
                </a:cubicBezTo>
                <a:cubicBezTo>
                  <a:pt x="3023705" y="1137479"/>
                  <a:pt x="3142974" y="883478"/>
                  <a:pt x="3352800" y="781878"/>
                </a:cubicBezTo>
                <a:cubicBezTo>
                  <a:pt x="3562626" y="680278"/>
                  <a:pt x="3893931" y="744331"/>
                  <a:pt x="4108174" y="662609"/>
                </a:cubicBezTo>
                <a:cubicBezTo>
                  <a:pt x="4322418" y="580887"/>
                  <a:pt x="4488070" y="401983"/>
                  <a:pt x="4638261" y="291548"/>
                </a:cubicBezTo>
                <a:cubicBezTo>
                  <a:pt x="4788452" y="181113"/>
                  <a:pt x="4918766" y="70678"/>
                  <a:pt x="5009322" y="0"/>
                </a:cubicBezTo>
              </a:path>
            </a:pathLst>
          </a:cu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F1CC8B9-5BC6-4262-8785-3F4A3D0BD30B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4063" b="29453" l="7639" r="48750">
                        <a14:foregroundMark x1="21389" y1="14141" x2="20417" y2="14063"/>
                        <a14:foregroundMark x1="7639" y1="29531" x2="7639" y2="29531"/>
                        <a14:foregroundMark x1="48750" y1="24297" x2="48750" y2="24297"/>
                        <a14:foregroundMark x1="28333" y1="21484" x2="28333" y2="21484"/>
                        <a14:foregroundMark x1="32639" y1="23672" x2="32639" y2="23672"/>
                        <a14:foregroundMark x1="40000" y1="22656" x2="40000" y2="226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967" t="12735" r="47252" b="69082"/>
          <a:stretch/>
        </p:blipFill>
        <p:spPr>
          <a:xfrm rot="20399826">
            <a:off x="1658976" y="986680"/>
            <a:ext cx="3201774" cy="212160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2E11A62-117A-4E02-BB2F-F3BC20C91B4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980" b="89920" l="9929" r="91135">
                        <a14:foregroundMark x1="91135" y1="56986" x2="91135" y2="56986"/>
                        <a14:foregroundMark x1="48936" y1="27246" x2="48936" y2="27246"/>
                        <a14:foregroundMark x1="63652" y1="27844" x2="63652" y2="27844"/>
                        <a14:foregroundMark x1="63475" y1="27844" x2="63475" y2="27844"/>
                        <a14:foregroundMark x1="62766" y1="27246" x2="62766" y2="27246"/>
                        <a14:foregroundMark x1="62766" y1="27246" x2="63652" y2="29541"/>
                        <a14:foregroundMark x1="62766" y1="27046" x2="62766" y2="27046"/>
                        <a14:foregroundMark x1="61348" y1="26647" x2="61348" y2="26647"/>
                        <a14:foregroundMark x1="53369" y1="25349" x2="53369" y2="25349"/>
                        <a14:foregroundMark x1="54787" y1="24750" x2="54787" y2="24750"/>
                        <a14:foregroundMark x1="43440" y1="69760" x2="43440" y2="69760"/>
                        <a14:backgroundMark x1="70567" y1="75549" x2="67908" y2="765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47" t="22166" b="21093"/>
          <a:stretch/>
        </p:blipFill>
        <p:spPr>
          <a:xfrm>
            <a:off x="-78965" y="3591909"/>
            <a:ext cx="3208574" cy="334986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830592C-0BD5-41A3-A4FA-BFCAAAC48B9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1000" l="10000" r="90000">
                        <a14:foregroundMark x1="56500" y1="11000" x2="33500" y2="15333"/>
                        <a14:foregroundMark x1="38167" y1="12833" x2="53333" y2="11167"/>
                        <a14:foregroundMark x1="53333" y1="11167" x2="58500" y2="11167"/>
                        <a14:foregroundMark x1="62167" y1="12000" x2="70500" y2="15667"/>
                        <a14:foregroundMark x1="48000" y1="10500" x2="53667" y2="10000"/>
                        <a14:foregroundMark x1="59500" y1="10667" x2="62000" y2="11667"/>
                        <a14:foregroundMark x1="71667" y1="17333" x2="77333" y2="22000"/>
                        <a14:foregroundMark x1="77333" y1="22000" x2="77833" y2="22833"/>
                        <a14:foregroundMark x1="78167" y1="25333" x2="81500" y2="33500"/>
                        <a14:foregroundMark x1="82667" y1="37500" x2="82833" y2="42333"/>
                        <a14:foregroundMark x1="79167" y1="44000" x2="78167" y2="50500"/>
                        <a14:foregroundMark x1="77167" y1="52000" x2="72500" y2="57833"/>
                        <a14:foregroundMark x1="72500" y1="57833" x2="70833" y2="59000"/>
                        <a14:foregroundMark x1="81000" y1="36333" x2="81000" y2="36333"/>
                        <a14:foregroundMark x1="68333" y1="60667" x2="67333" y2="66333"/>
                        <a14:foregroundMark x1="67167" y1="70167" x2="68167" y2="76333"/>
                        <a14:foregroundMark x1="67333" y1="79833" x2="64333" y2="86167"/>
                        <a14:foregroundMark x1="62167" y1="83833" x2="67167" y2="78833"/>
                        <a14:foregroundMark x1="67167" y1="78833" x2="67167" y2="78833"/>
                        <a14:foregroundMark x1="62500" y1="88333" x2="55500" y2="91000"/>
                        <a14:foregroundMark x1="55500" y1="91000" x2="49667" y2="86833"/>
                        <a14:foregroundMark x1="49667" y1="86833" x2="49667" y2="83500"/>
                        <a14:foregroundMark x1="47500" y1="90667" x2="38000" y2="89667"/>
                        <a14:foregroundMark x1="38333" y1="88667" x2="37167" y2="83333"/>
                        <a14:foregroundMark x1="37167" y1="83333" x2="33500" y2="76500"/>
                        <a14:foregroundMark x1="33500" y1="76500" x2="33833" y2="62667"/>
                        <a14:foregroundMark x1="33167" y1="61667" x2="23333" y2="49833"/>
                        <a14:foregroundMark x1="23333" y1="49833" x2="23000" y2="48500"/>
                        <a14:foregroundMark x1="21833" y1="47500" x2="17667" y2="36833"/>
                        <a14:foregroundMark x1="17500" y1="34333" x2="18167" y2="26833"/>
                        <a14:foregroundMark x1="18167" y1="26833" x2="22500" y2="20667"/>
                        <a14:foregroundMark x1="22500" y1="20667" x2="28500" y2="17167"/>
                        <a14:foregroundMark x1="32667" y1="15333" x2="28500" y2="15833"/>
                        <a14:foregroundMark x1="24333" y1="54500" x2="29333" y2="581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54187">
            <a:off x="6523071" y="4213918"/>
            <a:ext cx="2431773" cy="243177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CB97A99-5E6A-4421-B352-FA8270E41B0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8152" b="90082" l="9783" r="89946">
                        <a14:foregroundMark x1="47147" y1="9511" x2="41712" y2="13859"/>
                        <a14:foregroundMark x1="41712" y1="13859" x2="41712" y2="13859"/>
                        <a14:foregroundMark x1="41304" y1="13859" x2="36277" y2="12228"/>
                        <a14:foregroundMark x1="34511" y1="14538" x2="39402" y2="19701"/>
                        <a14:foregroundMark x1="39402" y1="19701" x2="39538" y2="19701"/>
                        <a14:foregroundMark x1="35870" y1="12500" x2="34103" y2="14130"/>
                        <a14:foregroundMark x1="40489" y1="21603" x2="40489" y2="23370"/>
                        <a14:foregroundMark x1="34511" y1="11821" x2="34511" y2="11821"/>
                        <a14:foregroundMark x1="37636" y1="23641" x2="28804" y2="32473"/>
                        <a14:foregroundMark x1="33560" y1="25951" x2="27582" y2="33967"/>
                        <a14:foregroundMark x1="27717" y1="34375" x2="23098" y2="43071"/>
                        <a14:foregroundMark x1="22147" y1="43071" x2="21603" y2="50272"/>
                        <a14:foregroundMark x1="20109" y1="52038" x2="23913" y2="63723"/>
                        <a14:foregroundMark x1="26359" y1="59103" x2="26359" y2="59103"/>
                        <a14:foregroundMark x1="32201" y1="64674" x2="35054" y2="70109"/>
                        <a14:foregroundMark x1="24457" y1="66304" x2="25408" y2="70516"/>
                        <a14:foregroundMark x1="19293" y1="51766" x2="19293" y2="51766"/>
                        <a14:foregroundMark x1="20380" y1="50951" x2="21060" y2="50679"/>
                        <a14:foregroundMark x1="26223" y1="72283" x2="26087" y2="76902"/>
                        <a14:foregroundMark x1="27582" y1="78397" x2="31114" y2="80435"/>
                        <a14:foregroundMark x1="32473" y1="80027" x2="37636" y2="78125"/>
                        <a14:foregroundMark x1="35870" y1="80163" x2="39402" y2="83696"/>
                        <a14:foregroundMark x1="36413" y1="83832" x2="35734" y2="81793"/>
                        <a14:foregroundMark x1="39538" y1="86005" x2="46196" y2="90082"/>
                        <a14:foregroundMark x1="46196" y1="90082" x2="46875" y2="90082"/>
                        <a14:foregroundMark x1="50543" y1="89402" x2="50543" y2="89402"/>
                        <a14:foregroundMark x1="50408" y1="87092" x2="50408" y2="87092"/>
                        <a14:foregroundMark x1="41712" y1="89402" x2="41712" y2="89402"/>
                        <a14:foregroundMark x1="39130" y1="89674" x2="39130" y2="89674"/>
                        <a14:foregroundMark x1="52174" y1="90082" x2="58696" y2="90082"/>
                        <a14:foregroundMark x1="61549" y1="88859" x2="61549" y2="88859"/>
                        <a14:foregroundMark x1="61141" y1="86549" x2="61141" y2="86549"/>
                        <a14:foregroundMark x1="60462" y1="85734" x2="60462" y2="84239"/>
                        <a14:foregroundMark x1="62228" y1="83288" x2="63859" y2="82745"/>
                        <a14:foregroundMark x1="64130" y1="80978" x2="64674" y2="78804"/>
                        <a14:foregroundMark x1="65217" y1="76495" x2="64130" y2="71467"/>
                        <a14:foregroundMark x1="63723" y1="70516" x2="63723" y2="66033"/>
                        <a14:foregroundMark x1="64946" y1="65082" x2="68207" y2="63179"/>
                        <a14:foregroundMark x1="69701" y1="60870" x2="72554" y2="59103"/>
                        <a14:foregroundMark x1="77038" y1="50000" x2="73777" y2="58424"/>
                        <a14:foregroundMark x1="78533" y1="50272" x2="79212" y2="46603"/>
                        <a14:foregroundMark x1="79212" y1="46603" x2="79212" y2="46603"/>
                        <a14:foregroundMark x1="79620" y1="44022" x2="79620" y2="43478"/>
                        <a14:foregroundMark x1="78804" y1="42255" x2="75543" y2="40217"/>
                        <a14:foregroundMark x1="74728" y1="39266" x2="71875" y2="33288"/>
                        <a14:foregroundMark x1="71060" y1="30571" x2="70652" y2="29891"/>
                        <a14:foregroundMark x1="67799" y1="27038" x2="67799" y2="27038"/>
                        <a14:foregroundMark x1="65489" y1="25951" x2="64946" y2="25136"/>
                        <a14:foregroundMark x1="60598" y1="23641" x2="63587" y2="24864"/>
                        <a14:foregroundMark x1="67799" y1="23234" x2="68342" y2="21875"/>
                        <a14:foregroundMark x1="67255" y1="19701" x2="64946" y2="18886"/>
                        <a14:foregroundMark x1="64674" y1="18750" x2="63179" y2="18750"/>
                        <a14:foregroundMark x1="61141" y1="18750" x2="61141" y2="18750"/>
                        <a14:foregroundMark x1="60870" y1="16984" x2="60598" y2="15625"/>
                        <a14:foregroundMark x1="59918" y1="12364" x2="59918" y2="12364"/>
                        <a14:foregroundMark x1="58560" y1="11413" x2="60054" y2="12908"/>
                        <a14:foregroundMark x1="57201" y1="10598" x2="54484" y2="11005"/>
                        <a14:foregroundMark x1="52446" y1="10598" x2="52446" y2="10598"/>
                        <a14:foregroundMark x1="51223" y1="9918" x2="51223" y2="9918"/>
                        <a14:foregroundMark x1="50136" y1="9647" x2="50136" y2="9647"/>
                        <a14:foregroundMark x1="49864" y1="9511" x2="49864" y2="9511"/>
                        <a14:foregroundMark x1="48234" y1="9103" x2="48234" y2="9103"/>
                        <a14:foregroundMark x1="48098" y1="8152" x2="48098" y2="81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07694">
            <a:off x="3117440" y="4249660"/>
            <a:ext cx="2513002" cy="251300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3AB5FCD-5E10-43D6-BF3D-F9023543F52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2983" b="96307" l="2557" r="96307">
                        <a14:foregroundMark x1="59091" y1="5824" x2="24858" y2="8381"/>
                        <a14:foregroundMark x1="39915" y1="5824" x2="55114" y2="2983"/>
                        <a14:foregroundMark x1="55114" y1="2983" x2="59659" y2="4545"/>
                        <a14:foregroundMark x1="63636" y1="5540" x2="74290" y2="16193"/>
                        <a14:foregroundMark x1="74290" y1="16193" x2="74290" y2="16193"/>
                        <a14:foregroundMark x1="61080" y1="5540" x2="63494" y2="6108"/>
                        <a14:foregroundMark x1="65767" y1="6818" x2="70597" y2="10653"/>
                        <a14:foregroundMark x1="71875" y1="12358" x2="76420" y2="18892"/>
                        <a14:foregroundMark x1="77841" y1="21733" x2="80682" y2="25994"/>
                        <a14:foregroundMark x1="82244" y1="26705" x2="88210" y2="32670"/>
                        <a14:foregroundMark x1="89489" y1="36080" x2="90057" y2="41903"/>
                        <a14:foregroundMark x1="89773" y1="35085" x2="89773" y2="35085"/>
                        <a14:foregroundMark x1="89063" y1="43182" x2="93466" y2="46733"/>
                        <a14:foregroundMark x1="93466" y1="48295" x2="91335" y2="54972"/>
                        <a14:foregroundMark x1="91335" y1="58097" x2="87784" y2="64347"/>
                        <a14:foregroundMark x1="87784" y1="64347" x2="82813" y2="65909"/>
                        <a14:foregroundMark x1="82454" y1="67898" x2="83949" y2="71449"/>
                        <a14:foregroundMark x1="81676" y1="66051" x2="82454" y2="67898"/>
                        <a14:foregroundMark x1="87500" y1="69744" x2="92756" y2="69602"/>
                        <a14:foregroundMark x1="93892" y1="70028" x2="96307" y2="75994"/>
                        <a14:foregroundMark x1="95597" y1="78125" x2="90057" y2="82670"/>
                        <a14:foregroundMark x1="89773" y1="84801" x2="87216" y2="90199"/>
                        <a14:foregroundMark x1="85227" y1="92898" x2="85227" y2="92898"/>
                        <a14:foregroundMark x1="82955" y1="93324" x2="79261" y2="94318"/>
                        <a14:foregroundMark x1="75426" y1="96307" x2="70881" y2="95455"/>
                        <a14:foregroundMark x1="64631" y1="93324" x2="58949" y2="95313"/>
                        <a14:foregroundMark x1="57955" y1="95455" x2="54119" y2="93466"/>
                        <a14:foregroundMark x1="48153" y1="92330" x2="48153" y2="92330"/>
                        <a14:foregroundMark x1="45881" y1="93892" x2="40341" y2="93750"/>
                        <a14:foregroundMark x1="39063" y1="93466" x2="34233" y2="91761"/>
                        <a14:foregroundMark x1="33381" y1="88920" x2="37358" y2="86790"/>
                        <a14:foregroundMark x1="33665" y1="85369" x2="30824" y2="85085"/>
                        <a14:foregroundMark x1="30256" y1="82670" x2="30256" y2="82670"/>
                        <a14:foregroundMark x1="30256" y1="80256" x2="30256" y2="80256"/>
                        <a14:foregroundMark x1="27131" y1="83239" x2="27131" y2="83239"/>
                        <a14:foregroundMark x1="23580" y1="82813" x2="23580" y2="82813"/>
                        <a14:foregroundMark x1="22585" y1="80256" x2="22585" y2="80256"/>
                        <a14:foregroundMark x1="23153" y1="82102" x2="26136" y2="83097"/>
                        <a14:foregroundMark x1="22727" y1="80114" x2="21165" y2="78693"/>
                        <a14:foregroundMark x1="20597" y1="78267" x2="19744" y2="77983"/>
                        <a14:foregroundMark x1="18608" y1="76705" x2="17756" y2="74716"/>
                        <a14:foregroundMark x1="18750" y1="72443" x2="18750" y2="72443"/>
                        <a14:foregroundMark x1="16619" y1="73580" x2="11080" y2="72727"/>
                        <a14:foregroundMark x1="8949" y1="71165" x2="8239" y2="70028"/>
                        <a14:foregroundMark x1="7670" y1="65483" x2="7670" y2="44176"/>
                        <a14:foregroundMark x1="3977" y1="58807" x2="6392" y2="64347"/>
                        <a14:foregroundMark x1="7244" y1="51420" x2="2983" y2="57386"/>
                        <a14:foregroundMark x1="2983" y1="57386" x2="2983" y2="57386"/>
                        <a14:foregroundMark x1="6960" y1="48864" x2="2557" y2="44176"/>
                        <a14:foregroundMark x1="3977" y1="43182" x2="7528" y2="36790"/>
                        <a14:foregroundMark x1="7528" y1="36790" x2="8097" y2="36364"/>
                        <a14:foregroundMark x1="9517" y1="33239" x2="12500" y2="26278"/>
                        <a14:foregroundMark x1="12500" y1="26278" x2="13068" y2="25710"/>
                        <a14:foregroundMark x1="7244" y1="34375" x2="3977" y2="39347"/>
                        <a14:foregroundMark x1="14063" y1="25568" x2="17045" y2="17614"/>
                        <a14:foregroundMark x1="20028" y1="14915" x2="24290" y2="10938"/>
                        <a14:foregroundMark x1="24858" y1="10511" x2="25710" y2="9801"/>
                        <a14:foregroundMark x1="16335" y1="16619" x2="24858" y2="9517"/>
                        <a14:foregroundMark x1="29688" y1="7102" x2="37216" y2="6108"/>
                        <a14:foregroundMark x1="37216" y1="6108" x2="37358" y2="6108"/>
                        <a14:foregroundMark x1="39347" y1="5398" x2="36364" y2="5540"/>
                        <a14:foregroundMark x1="31392" y1="6108" x2="31392" y2="6108"/>
                        <a14:foregroundMark x1="91335" y1="61506" x2="91335" y2="61506"/>
                        <a14:foregroundMark x1="9943" y1="71733" x2="7528" y2="68892"/>
                        <a14:backgroundMark x1="2557" y1="49716" x2="2557" y2="49716"/>
                        <a14:backgroundMark x1="84943" y1="67898" x2="84943" y2="678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9341" y="4240623"/>
            <a:ext cx="1901968" cy="1901968"/>
          </a:xfrm>
          <a:prstGeom prst="rect">
            <a:avLst/>
          </a:prstGeom>
        </p:spPr>
      </p:pic>
      <p:pic>
        <p:nvPicPr>
          <p:cNvPr id="41" name="Picture 40" descr="A close-up of a stick&#10;&#10;Description automatically generated with low confidence">
            <a:extLst>
              <a:ext uri="{FF2B5EF4-FFF2-40B4-BE49-F238E27FC236}">
                <a16:creationId xmlns:a16="http://schemas.microsoft.com/office/drawing/2014/main" id="{43D8FEF2-9F2D-4C32-8665-C3178E7FCBF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893748" y="3456097"/>
            <a:ext cx="3349869" cy="3656143"/>
          </a:xfrm>
          <a:prstGeom prst="rect">
            <a:avLst/>
          </a:prstGeom>
        </p:spPr>
      </p:pic>
      <p:sp>
        <p:nvSpPr>
          <p:cNvPr id="42" name="Oval 41">
            <a:extLst>
              <a:ext uri="{FF2B5EF4-FFF2-40B4-BE49-F238E27FC236}">
                <a16:creationId xmlns:a16="http://schemas.microsoft.com/office/drawing/2014/main" id="{C242D601-05B1-4ABA-B62E-7E67191FB089}"/>
              </a:ext>
            </a:extLst>
          </p:cNvPr>
          <p:cNvSpPr/>
          <p:nvPr/>
        </p:nvSpPr>
        <p:spPr>
          <a:xfrm>
            <a:off x="5222265" y="3126783"/>
            <a:ext cx="814530" cy="74209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bg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F216295A-627E-4817-B9A7-D85F6222D372}"/>
              </a:ext>
            </a:extLst>
          </p:cNvPr>
          <p:cNvSpPr/>
          <p:nvPr/>
        </p:nvSpPr>
        <p:spPr>
          <a:xfrm>
            <a:off x="2080985" y="3709384"/>
            <a:ext cx="3082834" cy="3122023"/>
          </a:xfrm>
          <a:custGeom>
            <a:avLst/>
            <a:gdLst>
              <a:gd name="connsiteX0" fmla="*/ 0 w 3082834"/>
              <a:gd name="connsiteY0" fmla="*/ 3122023 h 3122023"/>
              <a:gd name="connsiteX1" fmla="*/ 0 w 3082834"/>
              <a:gd name="connsiteY1" fmla="*/ 3122023 h 3122023"/>
              <a:gd name="connsiteX2" fmla="*/ 26126 w 3082834"/>
              <a:gd name="connsiteY2" fmla="*/ 2560320 h 3122023"/>
              <a:gd name="connsiteX3" fmla="*/ 783772 w 3082834"/>
              <a:gd name="connsiteY3" fmla="*/ 2638697 h 3122023"/>
              <a:gd name="connsiteX4" fmla="*/ 809897 w 3082834"/>
              <a:gd name="connsiteY4" fmla="*/ 1933303 h 3122023"/>
              <a:gd name="connsiteX5" fmla="*/ 836023 w 3082834"/>
              <a:gd name="connsiteY5" fmla="*/ 1907177 h 3122023"/>
              <a:gd name="connsiteX6" fmla="*/ 849086 w 3082834"/>
              <a:gd name="connsiteY6" fmla="*/ 1567543 h 3122023"/>
              <a:gd name="connsiteX7" fmla="*/ 1123406 w 3082834"/>
              <a:gd name="connsiteY7" fmla="*/ 2560320 h 3122023"/>
              <a:gd name="connsiteX8" fmla="*/ 1384663 w 3082834"/>
              <a:gd name="connsiteY8" fmla="*/ 1658983 h 3122023"/>
              <a:gd name="connsiteX9" fmla="*/ 1384663 w 3082834"/>
              <a:gd name="connsiteY9" fmla="*/ 1423851 h 3122023"/>
              <a:gd name="connsiteX10" fmla="*/ 2142309 w 3082834"/>
              <a:gd name="connsiteY10" fmla="*/ 1332411 h 3122023"/>
              <a:gd name="connsiteX11" fmla="*/ 2103120 w 3082834"/>
              <a:gd name="connsiteY11" fmla="*/ 535577 h 3122023"/>
              <a:gd name="connsiteX12" fmla="*/ 2860766 w 3082834"/>
              <a:gd name="connsiteY12" fmla="*/ 535577 h 3122023"/>
              <a:gd name="connsiteX13" fmla="*/ 3082834 w 3082834"/>
              <a:gd name="connsiteY13" fmla="*/ 0 h 3122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82834" h="3122023">
                <a:moveTo>
                  <a:pt x="0" y="3122023"/>
                </a:moveTo>
                <a:lnTo>
                  <a:pt x="0" y="3122023"/>
                </a:lnTo>
                <a:lnTo>
                  <a:pt x="26126" y="2560320"/>
                </a:lnTo>
                <a:lnTo>
                  <a:pt x="783772" y="2638697"/>
                </a:lnTo>
                <a:lnTo>
                  <a:pt x="809897" y="1933303"/>
                </a:lnTo>
                <a:lnTo>
                  <a:pt x="836023" y="1907177"/>
                </a:lnTo>
                <a:lnTo>
                  <a:pt x="849086" y="1567543"/>
                </a:lnTo>
                <a:lnTo>
                  <a:pt x="1123406" y="2560320"/>
                </a:lnTo>
                <a:lnTo>
                  <a:pt x="1384663" y="1658983"/>
                </a:lnTo>
                <a:lnTo>
                  <a:pt x="1384663" y="1423851"/>
                </a:lnTo>
                <a:lnTo>
                  <a:pt x="2142309" y="1332411"/>
                </a:lnTo>
                <a:lnTo>
                  <a:pt x="2103120" y="535577"/>
                </a:lnTo>
                <a:lnTo>
                  <a:pt x="2860766" y="535577"/>
                </a:lnTo>
                <a:lnTo>
                  <a:pt x="3082834" y="0"/>
                </a:lnTo>
              </a:path>
            </a:pathLst>
          </a:custGeom>
          <a:noFill/>
          <a:ln w="28575">
            <a:solidFill>
              <a:schemeClr val="bg1"/>
            </a:solidFill>
          </a:ln>
          <a:effectLst>
            <a:glow rad="101600">
              <a:schemeClr val="bg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C60206C0-BF33-456A-BEA5-92D4B8F83133}"/>
              </a:ext>
            </a:extLst>
          </p:cNvPr>
          <p:cNvSpPr/>
          <p:nvPr/>
        </p:nvSpPr>
        <p:spPr>
          <a:xfrm>
            <a:off x="2403456" y="3669817"/>
            <a:ext cx="2377440" cy="3069771"/>
          </a:xfrm>
          <a:custGeom>
            <a:avLst/>
            <a:gdLst>
              <a:gd name="connsiteX0" fmla="*/ 209006 w 2377440"/>
              <a:gd name="connsiteY0" fmla="*/ 3069771 h 3069771"/>
              <a:gd name="connsiteX1" fmla="*/ 0 w 2377440"/>
              <a:gd name="connsiteY1" fmla="*/ 2011680 h 3069771"/>
              <a:gd name="connsiteX2" fmla="*/ 1149532 w 2377440"/>
              <a:gd name="connsiteY2" fmla="*/ 2207623 h 3069771"/>
              <a:gd name="connsiteX3" fmla="*/ 1031966 w 2377440"/>
              <a:gd name="connsiteY3" fmla="*/ 1254034 h 3069771"/>
              <a:gd name="connsiteX4" fmla="*/ 2168435 w 2377440"/>
              <a:gd name="connsiteY4" fmla="*/ 1306286 h 3069771"/>
              <a:gd name="connsiteX5" fmla="*/ 2155372 w 2377440"/>
              <a:gd name="connsiteY5" fmla="*/ 418011 h 3069771"/>
              <a:gd name="connsiteX6" fmla="*/ 2377440 w 2377440"/>
              <a:gd name="connsiteY6" fmla="*/ 0 h 3069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77440" h="3069771">
                <a:moveTo>
                  <a:pt x="209006" y="3069771"/>
                </a:moveTo>
                <a:lnTo>
                  <a:pt x="0" y="2011680"/>
                </a:lnTo>
                <a:lnTo>
                  <a:pt x="1149532" y="2207623"/>
                </a:lnTo>
                <a:lnTo>
                  <a:pt x="1031966" y="1254034"/>
                </a:lnTo>
                <a:lnTo>
                  <a:pt x="2168435" y="1306286"/>
                </a:lnTo>
                <a:lnTo>
                  <a:pt x="2155372" y="418011"/>
                </a:lnTo>
                <a:lnTo>
                  <a:pt x="2377440" y="0"/>
                </a:lnTo>
              </a:path>
            </a:pathLst>
          </a:custGeom>
          <a:noFill/>
          <a:ln w="38100">
            <a:solidFill>
              <a:schemeClr val="bg1"/>
            </a:solidFill>
          </a:ln>
          <a:effectLst>
            <a:glow rad="101600">
              <a:schemeClr val="bg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BB8B4730-D616-48A1-B904-9666FE559910}"/>
              </a:ext>
            </a:extLst>
          </p:cNvPr>
          <p:cNvSpPr/>
          <p:nvPr/>
        </p:nvSpPr>
        <p:spPr>
          <a:xfrm rot="3960505" flipH="1">
            <a:off x="2673683" y="4135095"/>
            <a:ext cx="1553007" cy="2567593"/>
          </a:xfrm>
          <a:custGeom>
            <a:avLst/>
            <a:gdLst>
              <a:gd name="connsiteX0" fmla="*/ 209006 w 2377440"/>
              <a:gd name="connsiteY0" fmla="*/ 3069771 h 3069771"/>
              <a:gd name="connsiteX1" fmla="*/ 0 w 2377440"/>
              <a:gd name="connsiteY1" fmla="*/ 2011680 h 3069771"/>
              <a:gd name="connsiteX2" fmla="*/ 1149532 w 2377440"/>
              <a:gd name="connsiteY2" fmla="*/ 2207623 h 3069771"/>
              <a:gd name="connsiteX3" fmla="*/ 1031966 w 2377440"/>
              <a:gd name="connsiteY3" fmla="*/ 1254034 h 3069771"/>
              <a:gd name="connsiteX4" fmla="*/ 2168435 w 2377440"/>
              <a:gd name="connsiteY4" fmla="*/ 1306286 h 3069771"/>
              <a:gd name="connsiteX5" fmla="*/ 2155372 w 2377440"/>
              <a:gd name="connsiteY5" fmla="*/ 418011 h 3069771"/>
              <a:gd name="connsiteX6" fmla="*/ 2377440 w 2377440"/>
              <a:gd name="connsiteY6" fmla="*/ 0 h 3069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77440" h="3069771">
                <a:moveTo>
                  <a:pt x="209006" y="3069771"/>
                </a:moveTo>
                <a:lnTo>
                  <a:pt x="0" y="2011680"/>
                </a:lnTo>
                <a:lnTo>
                  <a:pt x="1149532" y="2207623"/>
                </a:lnTo>
                <a:lnTo>
                  <a:pt x="1031966" y="1254034"/>
                </a:lnTo>
                <a:lnTo>
                  <a:pt x="2168435" y="1306286"/>
                </a:lnTo>
                <a:lnTo>
                  <a:pt x="2155372" y="418011"/>
                </a:lnTo>
                <a:lnTo>
                  <a:pt x="2377440" y="0"/>
                </a:lnTo>
              </a:path>
            </a:pathLst>
          </a:custGeom>
          <a:noFill/>
          <a:ln w="38100">
            <a:solidFill>
              <a:schemeClr val="bg1"/>
            </a:solidFill>
          </a:ln>
          <a:effectLst>
            <a:glow rad="101600">
              <a:schemeClr val="bg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19C444-2E55-949F-36AF-58B96D878E27}"/>
              </a:ext>
            </a:extLst>
          </p:cNvPr>
          <p:cNvSpPr txBox="1"/>
          <p:nvPr/>
        </p:nvSpPr>
        <p:spPr>
          <a:xfrm>
            <a:off x="3017520" y="2103120"/>
            <a:ext cx="7040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dirty="0">
                <a:solidFill>
                  <a:srgbClr val="FFFFFF"/>
                </a:solidFill>
                <a:latin typeface="Harry P"/>
              </a:rPr>
              <a:t>TỐI ƯU SQL</a:t>
            </a:r>
          </a:p>
          <a:p>
            <a:r>
              <a:rPr sz="5400" dirty="0">
                <a:solidFill>
                  <a:srgbClr val="FFFFFF"/>
                </a:solidFill>
                <a:latin typeface="Harry P"/>
              </a:rPr>
              <a:t>CHO BIG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5BDD71-8E47-2079-7E69-06E3C689646F}"/>
              </a:ext>
            </a:extLst>
          </p:cNvPr>
          <p:cNvSpPr txBox="1"/>
          <p:nvPr/>
        </p:nvSpPr>
        <p:spPr>
          <a:xfrm>
            <a:off x="3017520" y="3840480"/>
            <a:ext cx="658368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dirty="0" err="1">
                <a:solidFill>
                  <a:srgbClr val="FFFFFF"/>
                </a:solidFill>
                <a:latin typeface="Harry P" panose="00000400000000000000" pitchFamily="2" charset="0"/>
              </a:rPr>
              <a:t>Nhóm</a:t>
            </a:r>
            <a:r>
              <a:rPr b="0" dirty="0">
                <a:solidFill>
                  <a:srgbClr val="FFFFFF"/>
                </a:solidFill>
                <a:latin typeface="Harry P" panose="00000400000000000000" pitchFamily="2" charset="0"/>
              </a:rPr>
              <a:t> 14: Phạm Bá Hiếu · Đào Quỳnh Nga · Đoàn Thị Thu Thảo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F3DB0A-5593-8C6E-C6CC-A94F0C78407D}"/>
              </a:ext>
            </a:extLst>
          </p:cNvPr>
          <p:cNvSpPr txBox="1"/>
          <p:nvPr/>
        </p:nvSpPr>
        <p:spPr>
          <a:xfrm>
            <a:off x="457200" y="320040"/>
            <a:ext cx="877824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dirty="0">
                <a:solidFill>
                  <a:srgbClr val="FFFFFF"/>
                </a:solidFill>
                <a:latin typeface="Harry P" panose="00000400000000000000" pitchFamily="2" charset="0"/>
              </a:rPr>
              <a:t>BÀI TẬP LỚN · TÍCH HỢP VÀ PHÂN TÍCH DỮ LIỆU LỚN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94251E-95E1-6D39-A0B1-E042CFD03905}"/>
              </a:ext>
            </a:extLst>
          </p:cNvPr>
          <p:cNvSpPr txBox="1"/>
          <p:nvPr/>
        </p:nvSpPr>
        <p:spPr>
          <a:xfrm>
            <a:off x="457200" y="731520"/>
            <a:ext cx="877824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dirty="0">
                <a:solidFill>
                  <a:srgbClr val="FFFFFF"/>
                </a:solidFill>
                <a:latin typeface="Harry P" panose="00000400000000000000" pitchFamily="2" charset="0"/>
              </a:rPr>
              <a:t>GV: </a:t>
            </a:r>
            <a:r>
              <a:rPr b="0" dirty="0" err="1">
                <a:solidFill>
                  <a:srgbClr val="FFFFFF"/>
                </a:solidFill>
                <a:latin typeface="Harry P" panose="00000400000000000000" pitchFamily="2" charset="0"/>
              </a:rPr>
              <a:t>ThS</a:t>
            </a:r>
            <a:r>
              <a:rPr b="0" dirty="0">
                <a:solidFill>
                  <a:srgbClr val="FFFFFF"/>
                </a:solidFill>
                <a:latin typeface="Harry P" panose="00000400000000000000" pitchFamily="2" charset="0"/>
              </a:rPr>
              <a:t>. NCS. Bùi Anh Tuấn</a:t>
            </a:r>
          </a:p>
        </p:txBody>
      </p:sp>
    </p:spTree>
    <p:extLst>
      <p:ext uri="{BB962C8B-B14F-4D97-AF65-F5344CB8AC3E}">
        <p14:creationId xmlns:p14="http://schemas.microsoft.com/office/powerpoint/2010/main" val="3331789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0"/>
    </mc:Choice>
    <mc:Fallback xmlns="">
      <p:transition spd="slow" advTm="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decel="66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25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1" presetClass="entr" presetSubtype="0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" presetClass="exit" presetSubtype="0" fill="hold" grpId="1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1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" presetID="1" presetClass="exit" presetSubtype="0" fill="hold" grpId="1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" presetID="1" presetClass="exit" presetSubtype="0" fill="hold" grpId="1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6" presetClass="emph" presetSubtype="0" accel="71000" fill="hold" grpId="1" nodeType="withEffect" p14:presetBounceEnd="36000">
                                      <p:stCondLst>
                                        <p:cond delay="1200"/>
                                      </p:stCondLst>
                                      <p:childTnLst>
                                        <p:animScale p14:bounceEnd="36000">
                                          <p:cBhvr>
                                            <p:cTn id="25" dur="750" fill="hold"/>
                                            <p:tgtEl>
                                              <p:spTgt spid="42"/>
                                            </p:tgtEl>
                                          </p:cBhvr>
                                          <p:by x="5000000" y="500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2" grpId="0" animBg="1"/>
          <p:bldP spid="42" grpId="1" animBg="1"/>
          <p:bldP spid="43" grpId="0" animBg="1"/>
          <p:bldP spid="43" grpId="1" animBg="1"/>
          <p:bldP spid="44" grpId="0" animBg="1"/>
          <p:bldP spid="44" grpId="1" animBg="1"/>
          <p:bldP spid="45" grpId="0" animBg="1"/>
          <p:bldP spid="45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decel="66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25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1" presetClass="entr" presetSubtype="0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" presetClass="exit" presetSubtype="0" fill="hold" grpId="1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1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" presetID="1" presetClass="exit" presetSubtype="0" fill="hold" grpId="1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" presetID="1" presetClass="exit" presetSubtype="0" fill="hold" grpId="1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6" presetClass="emph" presetSubtype="0" accel="71000" fill="hold" grpId="1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animScale>
                                          <p:cBhvr>
                                            <p:cTn id="25" dur="750" fill="hold"/>
                                            <p:tgtEl>
                                              <p:spTgt spid="42"/>
                                            </p:tgtEl>
                                          </p:cBhvr>
                                          <p:by x="5000000" y="500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2" grpId="0" animBg="1"/>
          <p:bldP spid="42" grpId="1" animBg="1"/>
          <p:bldP spid="43" grpId="0" animBg="1"/>
          <p:bldP spid="43" grpId="1" animBg="1"/>
          <p:bldP spid="44" grpId="0" animBg="1"/>
          <p:bldP spid="44" grpId="1" animBg="1"/>
          <p:bldP spid="45" grpId="0" animBg="1"/>
          <p:bldP spid="45" grpId="1" animBg="1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BA6D20-7ECA-4BED-9FE2-BDB379364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D350B85-0EAD-4147-9438-E099D1865595}"/>
              </a:ext>
            </a:extLst>
          </p:cNvPr>
          <p:cNvGrpSpPr/>
          <p:nvPr/>
        </p:nvGrpSpPr>
        <p:grpSpPr>
          <a:xfrm>
            <a:off x="2774382" y="162211"/>
            <a:ext cx="7513874" cy="1478056"/>
            <a:chOff x="3172558" y="2508122"/>
            <a:chExt cx="5933829" cy="3299896"/>
          </a:xfrm>
        </p:grpSpPr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D851F5-9E9D-4154-9D85-2213832902BF}"/>
              </a:ext>
            </a:extLst>
          </p:cNvPr>
          <p:cNvGrpSpPr/>
          <p:nvPr/>
        </p:nvGrpSpPr>
        <p:grpSpPr>
          <a:xfrm>
            <a:off x="5029200" y="2184070"/>
            <a:ext cx="2136238" cy="2696705"/>
            <a:chOff x="3860387" y="2184070"/>
            <a:chExt cx="2136238" cy="269670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C67A8CF-BC44-4812-922F-453526A9D3EE}"/>
                </a:ext>
              </a:extLst>
            </p:cNvPr>
            <p:cNvGrpSpPr/>
            <p:nvPr/>
          </p:nvGrpSpPr>
          <p:grpSpPr>
            <a:xfrm>
              <a:off x="3860387" y="2184070"/>
              <a:ext cx="2136238" cy="2696705"/>
              <a:chOff x="856344" y="155560"/>
              <a:chExt cx="4780047" cy="6146929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0A462C96-9C9A-45A1-84A7-387A13BA2BA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481"/>
              <a:stretch/>
            </p:blipFill>
            <p:spPr>
              <a:xfrm>
                <a:off x="856344" y="155560"/>
                <a:ext cx="4780047" cy="6146929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A5B4933E-D854-4642-ADDA-08C0B232FF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16984" y="1045557"/>
                <a:ext cx="3258766" cy="4523363"/>
              </a:xfrm>
              <a:prstGeom prst="rect">
                <a:avLst/>
              </a:prstGeom>
            </p:spPr>
          </p:pic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D6E32CE-3731-445A-8F00-57358DA19ACB}"/>
                </a:ext>
              </a:extLst>
            </p:cNvPr>
            <p:cNvSpPr/>
            <p:nvPr/>
          </p:nvSpPr>
          <p:spPr>
            <a:xfrm>
              <a:off x="4216552" y="2593113"/>
              <a:ext cx="1435395" cy="16402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dirty="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FB7117B-E1B2-4041-BE7B-6F345C8F2197}"/>
                </a:ext>
              </a:extLst>
            </p:cNvPr>
            <p:cNvSpPr txBox="1"/>
            <p:nvPr/>
          </p:nvSpPr>
          <p:spPr>
            <a:xfrm>
              <a:off x="4046152" y="4208215"/>
              <a:ext cx="1783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>
                  <a:solidFill>
                    <a:srgbClr val="382B1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Đào Quỳnh Nga</a:t>
              </a:r>
              <a:endParaRPr lang="vi-VN">
                <a:solidFill>
                  <a:srgbClr val="382B1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05125E8-F9B6-46D8-A5B5-11768E715F08}"/>
              </a:ext>
            </a:extLst>
          </p:cNvPr>
          <p:cNvGrpSpPr/>
          <p:nvPr/>
        </p:nvGrpSpPr>
        <p:grpSpPr>
          <a:xfrm>
            <a:off x="2194560" y="2208238"/>
            <a:ext cx="2136238" cy="2696705"/>
            <a:chOff x="1384213" y="2208238"/>
            <a:chExt cx="2136238" cy="269670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C704B51-99D9-4B95-BABA-42F1F05F4CDA}"/>
                </a:ext>
              </a:extLst>
            </p:cNvPr>
            <p:cNvGrpSpPr/>
            <p:nvPr/>
          </p:nvGrpSpPr>
          <p:grpSpPr>
            <a:xfrm>
              <a:off x="1384213" y="2208238"/>
              <a:ext cx="2136238" cy="2696705"/>
              <a:chOff x="856344" y="155560"/>
              <a:chExt cx="4780047" cy="6146929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70DB36F3-BC13-4221-A165-465FDC21C2D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481"/>
              <a:stretch/>
            </p:blipFill>
            <p:spPr>
              <a:xfrm>
                <a:off x="856344" y="155560"/>
                <a:ext cx="4780047" cy="6146929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18511F4E-40CD-4397-8F05-9667D95E65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16985" y="1045558"/>
                <a:ext cx="3258765" cy="4468274"/>
              </a:xfrm>
              <a:prstGeom prst="rect">
                <a:avLst/>
              </a:prstGeom>
            </p:spPr>
          </p:pic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A7594F6-6C1F-44BB-9F40-719B057EAB13}"/>
                </a:ext>
              </a:extLst>
            </p:cNvPr>
            <p:cNvSpPr/>
            <p:nvPr/>
          </p:nvSpPr>
          <p:spPr>
            <a:xfrm>
              <a:off x="1743740" y="2598684"/>
              <a:ext cx="1435395" cy="16504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62344B3-5390-42D6-97EB-86475422A2D9}"/>
                </a:ext>
              </a:extLst>
            </p:cNvPr>
            <p:cNvSpPr txBox="1"/>
            <p:nvPr/>
          </p:nvSpPr>
          <p:spPr>
            <a:xfrm>
              <a:off x="1501170" y="4208215"/>
              <a:ext cx="1783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382B1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Phạm Bá Hiếu</a:t>
              </a:r>
              <a:endParaRPr lang="vi-VN" dirty="0">
                <a:solidFill>
                  <a:srgbClr val="382B1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C029B19-290F-414E-8BF8-C558EF06F566}"/>
              </a:ext>
            </a:extLst>
          </p:cNvPr>
          <p:cNvGrpSpPr/>
          <p:nvPr/>
        </p:nvGrpSpPr>
        <p:grpSpPr>
          <a:xfrm>
            <a:off x="7863840" y="2208237"/>
            <a:ext cx="2136238" cy="2696705"/>
            <a:chOff x="6455805" y="2208237"/>
            <a:chExt cx="2136238" cy="2696705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C70C1AA-FF2F-43F9-BF66-DA71F68774EA}"/>
                </a:ext>
              </a:extLst>
            </p:cNvPr>
            <p:cNvGrpSpPr/>
            <p:nvPr/>
          </p:nvGrpSpPr>
          <p:grpSpPr>
            <a:xfrm>
              <a:off x="6455805" y="2208237"/>
              <a:ext cx="2136238" cy="2696705"/>
              <a:chOff x="856344" y="155560"/>
              <a:chExt cx="4780047" cy="6146929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D220BC2D-F617-4E42-B12B-E2231688512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481"/>
              <a:stretch/>
            </p:blipFill>
            <p:spPr>
              <a:xfrm>
                <a:off x="856344" y="155560"/>
                <a:ext cx="4780047" cy="6146929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4C26A42E-517C-4E05-8A55-5EBCCBA2F3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16984" y="1045557"/>
                <a:ext cx="3258766" cy="4523363"/>
              </a:xfrm>
              <a:prstGeom prst="rect">
                <a:avLst/>
              </a:prstGeom>
            </p:spPr>
          </p:pic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14354C1-8C26-4F6F-9F1E-7C99BBADEA1C}"/>
                </a:ext>
              </a:extLst>
            </p:cNvPr>
            <p:cNvSpPr/>
            <p:nvPr/>
          </p:nvSpPr>
          <p:spPr>
            <a:xfrm>
              <a:off x="6819826" y="2608866"/>
              <a:ext cx="1435395" cy="16402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E6DB741-F930-4920-AB6B-8AA58D1F8811}"/>
                </a:ext>
              </a:extLst>
            </p:cNvPr>
            <p:cNvSpPr txBox="1"/>
            <p:nvPr/>
          </p:nvSpPr>
          <p:spPr>
            <a:xfrm>
              <a:off x="6645983" y="4267449"/>
              <a:ext cx="1783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>
                  <a:solidFill>
                    <a:srgbClr val="382B1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Đoàn Thị Thu Thảo</a:t>
              </a:r>
              <a:endParaRPr lang="vi-VN">
                <a:solidFill>
                  <a:srgbClr val="382B1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0C011751-2E57-4577-9CA8-3F89ED61279E}"/>
              </a:ext>
            </a:extLst>
          </p:cNvPr>
          <p:cNvSpPr/>
          <p:nvPr/>
        </p:nvSpPr>
        <p:spPr>
          <a:xfrm>
            <a:off x="0" y="703632"/>
            <a:ext cx="2774382" cy="4267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bg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196BE76-E16E-4AA1-A9CE-328ED64BBF11}"/>
              </a:ext>
            </a:extLst>
          </p:cNvPr>
          <p:cNvSpPr/>
          <p:nvPr/>
        </p:nvSpPr>
        <p:spPr>
          <a:xfrm>
            <a:off x="9735897" y="672126"/>
            <a:ext cx="2456103" cy="4267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bg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3F1D054-AF83-456F-BDB4-22B8078694E8}"/>
              </a:ext>
            </a:extLst>
          </p:cNvPr>
          <p:cNvSpPr/>
          <p:nvPr/>
        </p:nvSpPr>
        <p:spPr>
          <a:xfrm>
            <a:off x="0" y="5741761"/>
            <a:ext cx="12186666" cy="4267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bg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0A5AA2D-DF74-4FCC-9129-921E845D4EC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80" b="89920" l="9929" r="91135">
                        <a14:foregroundMark x1="91135" y1="56986" x2="91135" y2="56986"/>
                        <a14:foregroundMark x1="48936" y1="27246" x2="48936" y2="27246"/>
                        <a14:foregroundMark x1="63652" y1="27844" x2="63652" y2="27844"/>
                        <a14:foregroundMark x1="63475" y1="27844" x2="63475" y2="27844"/>
                        <a14:foregroundMark x1="62766" y1="27246" x2="62766" y2="27246"/>
                        <a14:foregroundMark x1="62766" y1="27246" x2="63652" y2="29541"/>
                        <a14:foregroundMark x1="62766" y1="27046" x2="62766" y2="27046"/>
                        <a14:foregroundMark x1="61348" y1="26647" x2="61348" y2="26647"/>
                        <a14:foregroundMark x1="53369" y1="25349" x2="53369" y2="25349"/>
                        <a14:foregroundMark x1="54787" y1="24750" x2="54787" y2="24750"/>
                        <a14:foregroundMark x1="43440" y1="69760" x2="43440" y2="69760"/>
                        <a14:backgroundMark x1="70567" y1="75549" x2="67908" y2="765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47" t="22166" b="21093"/>
          <a:stretch/>
        </p:blipFill>
        <p:spPr>
          <a:xfrm>
            <a:off x="10480566" y="5012905"/>
            <a:ext cx="1804948" cy="1884432"/>
          </a:xfrm>
          <a:prstGeom prst="rect">
            <a:avLst/>
          </a:prstGeom>
        </p:spPr>
      </p:pic>
      <p:pic>
        <p:nvPicPr>
          <p:cNvPr id="35" name="Picture 34" descr="A close-up of a stick&#10;&#10;Description automatically generated with low confidence">
            <a:extLst>
              <a:ext uri="{FF2B5EF4-FFF2-40B4-BE49-F238E27FC236}">
                <a16:creationId xmlns:a16="http://schemas.microsoft.com/office/drawing/2014/main" id="{EA2C5761-8880-4061-8AC3-52140256D5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107244" y="5110436"/>
            <a:ext cx="1356698" cy="174478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6D0171D-F07C-42D0-8637-3881B881CC0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42813" b="59297" l="44444" r="88889">
                        <a14:foregroundMark x1="49861" y1="51563" x2="55972" y2="56250"/>
                        <a14:foregroundMark x1="86111" y1="52891" x2="87361" y2="51953"/>
                        <a14:foregroundMark x1="52639" y1="46719" x2="52917" y2="46719"/>
                        <a14:foregroundMark x1="51250" y1="46875" x2="53750" y2="47188"/>
                        <a14:foregroundMark x1="88889" y1="52500" x2="88750" y2="526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9514" t="40771" r="9453" b="38614"/>
          <a:stretch/>
        </p:blipFill>
        <p:spPr>
          <a:xfrm rot="709570">
            <a:off x="-113735" y="280302"/>
            <a:ext cx="1968744" cy="141380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8C7E496-0F54-4909-964C-72E011EA07B6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6641" b="81094" l="63194" r="92778">
                        <a14:foregroundMark x1="81944" y1="80391" x2="82778" y2="81094"/>
                        <a14:foregroundMark x1="86528" y1="62578" x2="86250" y2="6617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516" t="53734" r="3392" b="17125"/>
          <a:stretch/>
        </p:blipFill>
        <p:spPr>
          <a:xfrm rot="20399826">
            <a:off x="10998234" y="150263"/>
            <a:ext cx="1306111" cy="182418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510613" y="500363"/>
            <a:ext cx="71654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dirty="0">
                <a:solidFill>
                  <a:srgbClr val="FFFFFF"/>
                </a:solidFill>
                <a:latin typeface="Harry P"/>
              </a:rPr>
              <a:t>THÀNH VIÊN</a:t>
            </a:r>
            <a:r>
              <a:rPr lang="en-US" sz="4000" dirty="0">
                <a:solidFill>
                  <a:srgbClr val="FFFFFF"/>
                </a:solidFill>
                <a:latin typeface="Harry P"/>
              </a:rPr>
              <a:t> </a:t>
            </a:r>
            <a:r>
              <a:rPr sz="4000" dirty="0">
                <a:solidFill>
                  <a:srgbClr val="FFFFFF"/>
                </a:solidFill>
                <a:latin typeface="Harry P"/>
              </a:rPr>
              <a:t>NHÓM 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4983480"/>
            <a:ext cx="2136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MSSV 23010216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4983480"/>
            <a:ext cx="2136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MSSV 23010272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4983480"/>
            <a:ext cx="2136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MSSV 23010260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2E1E7DD-B01F-4BCB-7894-36ECFCCEFC7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8152" b="90082" l="9783" r="89946">
                        <a14:foregroundMark x1="47147" y1="9511" x2="41712" y2="13859"/>
                        <a14:foregroundMark x1="41712" y1="13859" x2="41712" y2="13859"/>
                        <a14:foregroundMark x1="41304" y1="13859" x2="36277" y2="12228"/>
                        <a14:foregroundMark x1="34511" y1="14538" x2="39402" y2="19701"/>
                        <a14:foregroundMark x1="39402" y1="19701" x2="39538" y2="19701"/>
                        <a14:foregroundMark x1="35870" y1="12500" x2="34103" y2="14130"/>
                        <a14:foregroundMark x1="40489" y1="21603" x2="40489" y2="23370"/>
                        <a14:foregroundMark x1="34511" y1="11821" x2="34511" y2="11821"/>
                        <a14:foregroundMark x1="37636" y1="23641" x2="28804" y2="32473"/>
                        <a14:foregroundMark x1="33560" y1="25951" x2="27582" y2="33967"/>
                        <a14:foregroundMark x1="27717" y1="34375" x2="23098" y2="43071"/>
                        <a14:foregroundMark x1="22147" y1="43071" x2="21603" y2="50272"/>
                        <a14:foregroundMark x1="20109" y1="52038" x2="23913" y2="63723"/>
                        <a14:foregroundMark x1="26359" y1="59103" x2="26359" y2="59103"/>
                        <a14:foregroundMark x1="32201" y1="64674" x2="35054" y2="70109"/>
                        <a14:foregroundMark x1="24457" y1="66304" x2="25408" y2="70516"/>
                        <a14:foregroundMark x1="19293" y1="51766" x2="19293" y2="51766"/>
                        <a14:foregroundMark x1="20380" y1="50951" x2="21060" y2="50679"/>
                        <a14:foregroundMark x1="26223" y1="72283" x2="26087" y2="76902"/>
                        <a14:foregroundMark x1="27582" y1="78397" x2="31114" y2="80435"/>
                        <a14:foregroundMark x1="32473" y1="80027" x2="37636" y2="78125"/>
                        <a14:foregroundMark x1="35870" y1="80163" x2="39402" y2="83696"/>
                        <a14:foregroundMark x1="36413" y1="83832" x2="35734" y2="81793"/>
                        <a14:foregroundMark x1="39538" y1="86005" x2="46196" y2="90082"/>
                        <a14:foregroundMark x1="46196" y1="90082" x2="46875" y2="90082"/>
                        <a14:foregroundMark x1="50543" y1="89402" x2="50543" y2="89402"/>
                        <a14:foregroundMark x1="50408" y1="87092" x2="50408" y2="87092"/>
                        <a14:foregroundMark x1="41712" y1="89402" x2="41712" y2="89402"/>
                        <a14:foregroundMark x1="39130" y1="89674" x2="39130" y2="89674"/>
                        <a14:foregroundMark x1="52174" y1="90082" x2="58696" y2="90082"/>
                        <a14:foregroundMark x1="61549" y1="88859" x2="61549" y2="88859"/>
                        <a14:foregroundMark x1="61141" y1="86549" x2="61141" y2="86549"/>
                        <a14:foregroundMark x1="60462" y1="85734" x2="60462" y2="84239"/>
                        <a14:foregroundMark x1="62228" y1="83288" x2="63859" y2="82745"/>
                        <a14:foregroundMark x1="64130" y1="80978" x2="64674" y2="78804"/>
                        <a14:foregroundMark x1="65217" y1="76495" x2="64130" y2="71467"/>
                        <a14:foregroundMark x1="63723" y1="70516" x2="63723" y2="66033"/>
                        <a14:foregroundMark x1="64946" y1="65082" x2="68207" y2="63179"/>
                        <a14:foregroundMark x1="69701" y1="60870" x2="72554" y2="59103"/>
                        <a14:foregroundMark x1="77038" y1="50000" x2="73777" y2="58424"/>
                        <a14:foregroundMark x1="78533" y1="50272" x2="79212" y2="46603"/>
                        <a14:foregroundMark x1="79212" y1="46603" x2="79212" y2="46603"/>
                        <a14:foregroundMark x1="79620" y1="44022" x2="79620" y2="43478"/>
                        <a14:foregroundMark x1="78804" y1="42255" x2="75543" y2="40217"/>
                        <a14:foregroundMark x1="74728" y1="39266" x2="71875" y2="33288"/>
                        <a14:foregroundMark x1="71060" y1="30571" x2="70652" y2="29891"/>
                        <a14:foregroundMark x1="67799" y1="27038" x2="67799" y2="27038"/>
                        <a14:foregroundMark x1="65489" y1="25951" x2="64946" y2="25136"/>
                        <a14:foregroundMark x1="60598" y1="23641" x2="63587" y2="24864"/>
                        <a14:foregroundMark x1="67799" y1="23234" x2="68342" y2="21875"/>
                        <a14:foregroundMark x1="67255" y1="19701" x2="64946" y2="18886"/>
                        <a14:foregroundMark x1="64674" y1="18750" x2="63179" y2="18750"/>
                        <a14:foregroundMark x1="61141" y1="18750" x2="61141" y2="18750"/>
                        <a14:foregroundMark x1="60870" y1="16984" x2="60598" y2="15625"/>
                        <a14:foregroundMark x1="59918" y1="12364" x2="59918" y2="12364"/>
                        <a14:foregroundMark x1="58560" y1="11413" x2="60054" y2="12908"/>
                        <a14:foregroundMark x1="57201" y1="10598" x2="54484" y2="11005"/>
                        <a14:foregroundMark x1="52446" y1="10598" x2="52446" y2="10598"/>
                        <a14:foregroundMark x1="51223" y1="9918" x2="51223" y2="9918"/>
                        <a14:foregroundMark x1="50136" y1="9647" x2="50136" y2="9647"/>
                        <a14:foregroundMark x1="49864" y1="9511" x2="49864" y2="9511"/>
                        <a14:foregroundMark x1="48234" y1="9103" x2="48234" y2="9103"/>
                        <a14:foregroundMark x1="48098" y1="8152" x2="48098" y2="81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962" y="2319225"/>
            <a:ext cx="2131476" cy="213147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FBE0FCC-DACF-5AF1-8DE2-0502713990F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2983" b="96307" l="2557" r="96307">
                        <a14:foregroundMark x1="59091" y1="5824" x2="24858" y2="8381"/>
                        <a14:foregroundMark x1="39915" y1="5824" x2="55114" y2="2983"/>
                        <a14:foregroundMark x1="55114" y1="2983" x2="59659" y2="4545"/>
                        <a14:foregroundMark x1="63636" y1="5540" x2="74290" y2="16193"/>
                        <a14:foregroundMark x1="74290" y1="16193" x2="74290" y2="16193"/>
                        <a14:foregroundMark x1="61080" y1="5540" x2="63494" y2="6108"/>
                        <a14:foregroundMark x1="65767" y1="6818" x2="70597" y2="10653"/>
                        <a14:foregroundMark x1="71875" y1="12358" x2="76420" y2="18892"/>
                        <a14:foregroundMark x1="77841" y1="21733" x2="80682" y2="25994"/>
                        <a14:foregroundMark x1="82244" y1="26705" x2="88210" y2="32670"/>
                        <a14:foregroundMark x1="89489" y1="36080" x2="90057" y2="41903"/>
                        <a14:foregroundMark x1="89773" y1="35085" x2="89773" y2="35085"/>
                        <a14:foregroundMark x1="89063" y1="43182" x2="93466" y2="46733"/>
                        <a14:foregroundMark x1="93466" y1="48295" x2="91335" y2="54972"/>
                        <a14:foregroundMark x1="91335" y1="58097" x2="87784" y2="64347"/>
                        <a14:foregroundMark x1="87784" y1="64347" x2="82813" y2="65909"/>
                        <a14:foregroundMark x1="82454" y1="67898" x2="83949" y2="71449"/>
                        <a14:foregroundMark x1="81676" y1="66051" x2="82454" y2="67898"/>
                        <a14:foregroundMark x1="87500" y1="69744" x2="92756" y2="69602"/>
                        <a14:foregroundMark x1="93892" y1="70028" x2="96307" y2="75994"/>
                        <a14:foregroundMark x1="95597" y1="78125" x2="90057" y2="82670"/>
                        <a14:foregroundMark x1="89773" y1="84801" x2="87216" y2="90199"/>
                        <a14:foregroundMark x1="85227" y1="92898" x2="85227" y2="92898"/>
                        <a14:foregroundMark x1="82955" y1="93324" x2="79261" y2="94318"/>
                        <a14:foregroundMark x1="75426" y1="96307" x2="70881" y2="95455"/>
                        <a14:foregroundMark x1="64631" y1="93324" x2="58949" y2="95313"/>
                        <a14:foregroundMark x1="57955" y1="95455" x2="54119" y2="93466"/>
                        <a14:foregroundMark x1="48153" y1="92330" x2="48153" y2="92330"/>
                        <a14:foregroundMark x1="45881" y1="93892" x2="40341" y2="93750"/>
                        <a14:foregroundMark x1="39063" y1="93466" x2="34233" y2="91761"/>
                        <a14:foregroundMark x1="33381" y1="88920" x2="37358" y2="86790"/>
                        <a14:foregroundMark x1="33665" y1="85369" x2="30824" y2="85085"/>
                        <a14:foregroundMark x1="30256" y1="82670" x2="30256" y2="82670"/>
                        <a14:foregroundMark x1="30256" y1="80256" x2="30256" y2="80256"/>
                        <a14:foregroundMark x1="27131" y1="83239" x2="27131" y2="83239"/>
                        <a14:foregroundMark x1="23580" y1="82813" x2="23580" y2="82813"/>
                        <a14:foregroundMark x1="22585" y1="80256" x2="22585" y2="80256"/>
                        <a14:foregroundMark x1="23153" y1="82102" x2="26136" y2="83097"/>
                        <a14:foregroundMark x1="22727" y1="80114" x2="21165" y2="78693"/>
                        <a14:foregroundMark x1="20597" y1="78267" x2="19744" y2="77983"/>
                        <a14:foregroundMark x1="18608" y1="76705" x2="17756" y2="74716"/>
                        <a14:foregroundMark x1="18750" y1="72443" x2="18750" y2="72443"/>
                        <a14:foregroundMark x1="16619" y1="73580" x2="11080" y2="72727"/>
                        <a14:foregroundMark x1="8949" y1="71165" x2="8239" y2="70028"/>
                        <a14:foregroundMark x1="7670" y1="65483" x2="7670" y2="44176"/>
                        <a14:foregroundMark x1="3977" y1="58807" x2="6392" y2="64347"/>
                        <a14:foregroundMark x1="7244" y1="51420" x2="2983" y2="57386"/>
                        <a14:foregroundMark x1="2983" y1="57386" x2="2983" y2="57386"/>
                        <a14:foregroundMark x1="6960" y1="48864" x2="2557" y2="44176"/>
                        <a14:foregroundMark x1="3977" y1="43182" x2="7528" y2="36790"/>
                        <a14:foregroundMark x1="7528" y1="36790" x2="8097" y2="36364"/>
                        <a14:foregroundMark x1="9517" y1="33239" x2="12500" y2="26278"/>
                        <a14:foregroundMark x1="12500" y1="26278" x2="13068" y2="25710"/>
                        <a14:foregroundMark x1="7244" y1="34375" x2="3977" y2="39347"/>
                        <a14:foregroundMark x1="14063" y1="25568" x2="17045" y2="17614"/>
                        <a14:foregroundMark x1="20028" y1="14915" x2="24290" y2="10938"/>
                        <a14:foregroundMark x1="24858" y1="10511" x2="25710" y2="9801"/>
                        <a14:foregroundMark x1="16335" y1="16619" x2="24858" y2="9517"/>
                        <a14:foregroundMark x1="29688" y1="7102" x2="37216" y2="6108"/>
                        <a14:foregroundMark x1="37216" y1="6108" x2="37358" y2="6108"/>
                        <a14:foregroundMark x1="39347" y1="5398" x2="36364" y2="5540"/>
                        <a14:foregroundMark x1="31392" y1="6108" x2="31392" y2="6108"/>
                        <a14:foregroundMark x1="91335" y1="61506" x2="91335" y2="61506"/>
                        <a14:foregroundMark x1="9943" y1="71733" x2="7528" y2="68892"/>
                        <a14:backgroundMark x1="2557" y1="49716" x2="2557" y2="49716"/>
                        <a14:backgroundMark x1="84943" y1="67898" x2="84943" y2="678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9786" y="2636959"/>
            <a:ext cx="1624345" cy="162434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E5B0FBE-38B6-748A-E972-452DD05F790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1000" l="10000" r="90000">
                        <a14:foregroundMark x1="56500" y1="11000" x2="33500" y2="15333"/>
                        <a14:foregroundMark x1="38167" y1="12833" x2="53333" y2="11167"/>
                        <a14:foregroundMark x1="53333" y1="11167" x2="58500" y2="11167"/>
                        <a14:foregroundMark x1="62167" y1="12000" x2="70500" y2="15667"/>
                        <a14:foregroundMark x1="48000" y1="10500" x2="53667" y2="10000"/>
                        <a14:foregroundMark x1="59500" y1="10667" x2="62000" y2="11667"/>
                        <a14:foregroundMark x1="71667" y1="17333" x2="77333" y2="22000"/>
                        <a14:foregroundMark x1="77333" y1="22000" x2="77833" y2="22833"/>
                        <a14:foregroundMark x1="78167" y1="25333" x2="81500" y2="33500"/>
                        <a14:foregroundMark x1="82667" y1="37500" x2="82833" y2="42333"/>
                        <a14:foregroundMark x1="79167" y1="44000" x2="78167" y2="50500"/>
                        <a14:foregroundMark x1="77167" y1="52000" x2="72500" y2="57833"/>
                        <a14:foregroundMark x1="72500" y1="57833" x2="70833" y2="59000"/>
                        <a14:foregroundMark x1="81000" y1="36333" x2="81000" y2="36333"/>
                        <a14:foregroundMark x1="68333" y1="60667" x2="67333" y2="66333"/>
                        <a14:foregroundMark x1="67167" y1="70167" x2="68167" y2="76333"/>
                        <a14:foregroundMark x1="67333" y1="79833" x2="64333" y2="86167"/>
                        <a14:foregroundMark x1="62167" y1="83833" x2="67167" y2="78833"/>
                        <a14:foregroundMark x1="67167" y1="78833" x2="67167" y2="78833"/>
                        <a14:foregroundMark x1="62500" y1="88333" x2="55500" y2="91000"/>
                        <a14:foregroundMark x1="55500" y1="91000" x2="49667" y2="86833"/>
                        <a14:foregroundMark x1="49667" y1="86833" x2="49667" y2="83500"/>
                        <a14:foregroundMark x1="47500" y1="90667" x2="38000" y2="89667"/>
                        <a14:foregroundMark x1="38333" y1="88667" x2="37167" y2="83333"/>
                        <a14:foregroundMark x1="37167" y1="83333" x2="33500" y2="76500"/>
                        <a14:foregroundMark x1="33500" y1="76500" x2="33833" y2="62667"/>
                        <a14:foregroundMark x1="33167" y1="61667" x2="23333" y2="49833"/>
                        <a14:foregroundMark x1="23333" y1="49833" x2="23000" y2="48500"/>
                        <a14:foregroundMark x1="21833" y1="47500" x2="17667" y2="36833"/>
                        <a14:foregroundMark x1="17500" y1="34333" x2="18167" y2="26833"/>
                        <a14:foregroundMark x1="18167" y1="26833" x2="22500" y2="20667"/>
                        <a14:foregroundMark x1="22500" y1="20667" x2="28500" y2="17167"/>
                        <a14:foregroundMark x1="32667" y1="15333" x2="28500" y2="15833"/>
                        <a14:foregroundMark x1="24333" y1="54500" x2="29333" y2="581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172" y="2393878"/>
            <a:ext cx="2038736" cy="20387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FDD535-0F84-4213-ABF2-71772D985B5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062C4FC-3A34-45D0-B40E-68E1FEBFA691}"/>
              </a:ext>
            </a:extLst>
          </p:cNvPr>
          <p:cNvSpPr/>
          <p:nvPr/>
        </p:nvSpPr>
        <p:spPr>
          <a:xfrm>
            <a:off x="732148" y="667337"/>
            <a:ext cx="10727703" cy="5794933"/>
          </a:xfrm>
          <a:prstGeom prst="roundRect">
            <a:avLst>
              <a:gd name="adj" fmla="val 2352"/>
            </a:avLst>
          </a:prstGeom>
          <a:solidFill>
            <a:schemeClr val="tx1">
              <a:lumMod val="95000"/>
              <a:lumOff val="5000"/>
              <a:alpha val="35000"/>
            </a:schemeClr>
          </a:solidFill>
          <a:ln w="76200">
            <a:solidFill>
              <a:srgbClr val="C9022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+mj-lt"/>
            </a:endParaRPr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AEA5AD0C-0270-4EA6-A44C-D6A4A36530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300" b="94800" l="10000" r="90000">
                        <a14:foregroundMark x1="51000" y1="6300" x2="53200" y2="10000"/>
                        <a14:foregroundMark x1="39800" y1="89700" x2="54800" y2="91000"/>
                        <a14:foregroundMark x1="50300" y1="94800" x2="50300" y2="94800"/>
                        <a14:foregroundMark x1="28900" y1="19000" x2="28900" y2="19000"/>
                        <a14:backgroundMark x1="28300" y1="19300" x2="28300" y2="19300"/>
                        <a14:backgroundMark x1="30700" y1="19200" x2="30700" y2="19200"/>
                        <a14:backgroundMark x1="28700" y1="19700" x2="28700" y2="19700"/>
                        <a14:backgroundMark x1="25200" y1="22200" x2="25200" y2="22200"/>
                        <a14:backgroundMark x1="25300" y1="24300" x2="25300" y2="24300"/>
                        <a14:backgroundMark x1="29300" y1="25400" x2="29300" y2="25400"/>
                        <a14:backgroundMark x1="20100" y1="30300" x2="20100" y2="30300"/>
                        <a14:backgroundMark x1="30400" y1="35600" x2="30400" y2="35600"/>
                        <a14:backgroundMark x1="35500" y1="36500" x2="35500" y2="36500"/>
                        <a14:backgroundMark x1="25600" y1="39200" x2="25600" y2="39200"/>
                        <a14:backgroundMark x1="26800" y1="39600" x2="26800" y2="39600"/>
                        <a14:backgroundMark x1="29900" y1="49200" x2="29900" y2="49200"/>
                        <a14:backgroundMark x1="30000" y1="45000" x2="30000" y2="45000"/>
                        <a14:backgroundMark x1="28000" y1="43000" x2="28000" y2="43000"/>
                        <a14:backgroundMark x1="23400" y1="44200" x2="23400" y2="44200"/>
                        <a14:backgroundMark x1="22000" y1="41100" x2="22000" y2="41100"/>
                        <a14:backgroundMark x1="20700" y1="39400" x2="20700" y2="39400"/>
                        <a14:backgroundMark x1="18700" y1="37700" x2="18700" y2="37700"/>
                        <a14:backgroundMark x1="29800" y1="59300" x2="29800" y2="59300"/>
                        <a14:backgroundMark x1="29300" y1="66800" x2="29300" y2="66800"/>
                        <a14:backgroundMark x1="26100" y1="67100" x2="26100" y2="67100"/>
                        <a14:backgroundMark x1="68700" y1="61400" x2="68700" y2="61400"/>
                        <a14:backgroundMark x1="68900" y1="59800" x2="68900" y2="59800"/>
                        <a14:backgroundMark x1="68500" y1="63800" x2="68500" y2="63800"/>
                        <a14:backgroundMark x1="70100" y1="63400" x2="70100" y2="63400"/>
                        <a14:backgroundMark x1="72200" y1="66300" x2="72200" y2="66300"/>
                        <a14:backgroundMark x1="73800" y1="69800" x2="73800" y2="69800"/>
                        <a14:backgroundMark x1="67500" y1="70700" x2="67500" y2="70700"/>
                        <a14:backgroundMark x1="73100" y1="24400" x2="73100" y2="24400"/>
                        <a14:backgroundMark x1="79100" y1="30100" x2="79100" y2="30100"/>
                        <a14:backgroundMark x1="76700" y1="31000" x2="76700" y2="31000"/>
                        <a14:backgroundMark x1="75200" y1="34000" x2="75200" y2="34000"/>
                        <a14:backgroundMark x1="67400" y1="33100" x2="67400" y2="33100"/>
                        <a14:backgroundMark x1="66800" y1="31900" x2="66800" y2="31900"/>
                        <a14:backgroundMark x1="69800" y1="36700" x2="69800" y2="36700"/>
                        <a14:backgroundMark x1="67900" y1="37300" x2="67900" y2="37300"/>
                        <a14:backgroundMark x1="70000" y1="40000" x2="70000" y2="40000"/>
                        <a14:backgroundMark x1="76000" y1="38800" x2="76000" y2="38800"/>
                        <a14:backgroundMark x1="74800" y1="36100" x2="74800" y2="36100"/>
                        <a14:backgroundMark x1="80500" y1="40000" x2="80500" y2="40000"/>
                        <a14:backgroundMark x1="82200" y1="37900" x2="82200" y2="37900"/>
                        <a14:backgroundMark x1="83300" y1="35000" x2="83300" y2="35000"/>
                        <a14:backgroundMark x1="78700" y1="42400" x2="78700" y2="42400"/>
                        <a14:backgroundMark x1="69800" y1="49200" x2="69800" y2="49200"/>
                        <a14:backgroundMark x1="69500" y1="45400" x2="69500" y2="45400"/>
                        <a14:backgroundMark x1="82500" y1="45200" x2="82500" y2="45200"/>
                        <a14:backgroundMark x1="78700" y1="43300" x2="78700" y2="43300"/>
                        <a14:backgroundMark x1="74300" y1="49400" x2="74300" y2="49400"/>
                        <a14:backgroundMark x1="71000" y1="55600" x2="71000" y2="556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988" y="0"/>
            <a:ext cx="1656271" cy="16562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AA71C7-97DA-4BDA-B98C-E50CD3085916}"/>
              </a:ext>
            </a:extLst>
          </p:cNvPr>
          <p:cNvSpPr txBox="1"/>
          <p:nvPr/>
        </p:nvSpPr>
        <p:spPr>
          <a:xfrm>
            <a:off x="2441448" y="742751"/>
            <a:ext cx="7315200" cy="646331"/>
          </a:xfrm>
          <a:prstGeom prst="rect">
            <a:avLst/>
          </a:prstGeom>
          <a:noFill/>
          <a:effectLst>
            <a:glow rad="101600">
              <a:srgbClr val="C90223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effectLst/>
                <a:latin typeface="+mj-lt"/>
              </a:rPr>
              <a:t>BÀI TOÁN VÀ DỮ LIỆU</a:t>
            </a:r>
            <a:endParaRPr lang="vi-VN" sz="4400" b="1" dirty="0">
              <a:solidFill>
                <a:schemeClr val="bg1"/>
              </a:solidFill>
              <a:effectLst/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19C807-E088-4494-BF30-09E1AC95ECE1}"/>
              </a:ext>
            </a:extLst>
          </p:cNvPr>
          <p:cNvSpPr/>
          <p:nvPr/>
        </p:nvSpPr>
        <p:spPr>
          <a:xfrm>
            <a:off x="-12234660" y="5835787"/>
            <a:ext cx="12186666" cy="426720"/>
          </a:xfrm>
          <a:prstGeom prst="rect">
            <a:avLst/>
          </a:prstGeom>
          <a:solidFill>
            <a:srgbClr val="C90223"/>
          </a:solidFill>
          <a:ln>
            <a:noFill/>
          </a:ln>
          <a:effectLst>
            <a:glow rad="101600">
              <a:srgbClr val="C90223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FD97046-B534-4084-8058-EE272698147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80" b="89920" l="9929" r="91135">
                        <a14:foregroundMark x1="91135" y1="56986" x2="91135" y2="56986"/>
                        <a14:foregroundMark x1="48936" y1="27246" x2="48936" y2="27246"/>
                        <a14:foregroundMark x1="63652" y1="27844" x2="63652" y2="27844"/>
                        <a14:foregroundMark x1="63475" y1="27844" x2="63475" y2="27844"/>
                        <a14:foregroundMark x1="62766" y1="27246" x2="62766" y2="27246"/>
                        <a14:foregroundMark x1="62766" y1="27246" x2="63652" y2="29541"/>
                        <a14:foregroundMark x1="62766" y1="27046" x2="62766" y2="27046"/>
                        <a14:foregroundMark x1="61348" y1="26647" x2="61348" y2="26647"/>
                        <a14:foregroundMark x1="53369" y1="25349" x2="53369" y2="25349"/>
                        <a14:foregroundMark x1="54787" y1="24750" x2="54787" y2="24750"/>
                        <a14:foregroundMark x1="43440" y1="69760" x2="43440" y2="69760"/>
                        <a14:backgroundMark x1="70567" y1="75549" x2="67908" y2="765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47" t="22166" b="21093"/>
          <a:stretch/>
        </p:blipFill>
        <p:spPr>
          <a:xfrm>
            <a:off x="-1605023" y="-929887"/>
            <a:ext cx="1461041" cy="15253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1533C4D-C0F1-4C60-9786-8688BA2090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600" l="8800" r="90000">
                        <a14:foregroundMark x1="8800" y1="57200" x2="8800" y2="57200"/>
                        <a14:foregroundMark x1="38667" y1="51000" x2="38667" y2="51000"/>
                        <a14:foregroundMark x1="56400" y1="45800" x2="56400" y2="45800"/>
                        <a14:foregroundMark x1="55200" y1="90200" x2="55200" y2="90200"/>
                        <a14:foregroundMark x1="42800" y1="90600" x2="42800" y2="90600"/>
                        <a14:foregroundMark x1="55467" y1="88900" x2="59467" y2="89300"/>
                        <a14:foregroundMark x1="38933" y1="51400" x2="38933" y2="514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385">
            <a:off x="10491914" y="4340828"/>
            <a:ext cx="1935872" cy="258116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097280" y="1783080"/>
            <a:ext cx="22860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80160" y="2165339"/>
            <a:ext cx="1920240" cy="789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7A1020"/>
                </a:solidFill>
                <a:latin typeface="+mj-lt"/>
              </a:rPr>
              <a:t>2.000.000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B2118"/>
                </a:solidFill>
                <a:latin typeface="+mj-lt"/>
              </a:rPr>
              <a:t>đơn hàng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0439" y="1783080"/>
            <a:ext cx="22860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03320" y="2165339"/>
            <a:ext cx="1920240" cy="789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7A1020"/>
                </a:solidFill>
                <a:latin typeface="+mj-lt"/>
              </a:rPr>
              <a:t>5.300.810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B2118"/>
                </a:solidFill>
                <a:latin typeface="+mj-lt"/>
              </a:rPr>
              <a:t>dòng chi tiết đơn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3474720"/>
            <a:ext cx="22860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80160" y="3856980"/>
            <a:ext cx="1920240" cy="789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7A1020"/>
                </a:solidFill>
                <a:latin typeface="+mj-lt"/>
              </a:rPr>
              <a:t>100.000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B2118"/>
                </a:solidFill>
                <a:latin typeface="+mj-lt"/>
              </a:rPr>
              <a:t>khách hàng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39" y="3474720"/>
            <a:ext cx="22860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703320" y="3856980"/>
            <a:ext cx="1920240" cy="789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7A1020"/>
                </a:solidFill>
                <a:latin typeface="+mj-lt"/>
              </a:rPr>
              <a:t>10.000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B2118"/>
                </a:solidFill>
                <a:latin typeface="+mj-lt"/>
              </a:rPr>
              <a:t>sản phẩm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1783080"/>
            <a:ext cx="416052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09360" y="1911095"/>
            <a:ext cx="3794759" cy="274947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dirty="0" err="1">
                <a:solidFill>
                  <a:srgbClr val="7A1020"/>
                </a:solidFill>
                <a:latin typeface="+mj-lt"/>
              </a:rPr>
              <a:t>Tám</a:t>
            </a:r>
            <a:r>
              <a:rPr sz="1800" b="1" dirty="0">
                <a:solidFill>
                  <a:srgbClr val="7A1020"/>
                </a:solidFill>
                <a:latin typeface="+mj-lt"/>
              </a:rPr>
              <a:t> </a:t>
            </a:r>
            <a:r>
              <a:rPr sz="1800" b="1" dirty="0" err="1">
                <a:solidFill>
                  <a:srgbClr val="7A1020"/>
                </a:solidFill>
                <a:latin typeface="+mj-lt"/>
              </a:rPr>
              <a:t>truy</a:t>
            </a:r>
            <a:r>
              <a:rPr sz="1800" b="1" dirty="0">
                <a:solidFill>
                  <a:srgbClr val="7A1020"/>
                </a:solidFill>
                <a:latin typeface="+mj-lt"/>
              </a:rPr>
              <a:t> </a:t>
            </a:r>
            <a:r>
              <a:rPr sz="1800" b="1" dirty="0" err="1">
                <a:solidFill>
                  <a:srgbClr val="7A1020"/>
                </a:solidFill>
                <a:latin typeface="+mj-lt"/>
              </a:rPr>
              <a:t>vấn</a:t>
            </a:r>
            <a:r>
              <a:rPr sz="1800" b="1" dirty="0">
                <a:solidFill>
                  <a:srgbClr val="7A1020"/>
                </a:solidFill>
                <a:latin typeface="+mj-lt"/>
              </a:rPr>
              <a:t> </a:t>
            </a:r>
            <a:r>
              <a:rPr sz="1800" b="1" dirty="0" err="1">
                <a:solidFill>
                  <a:srgbClr val="7A1020"/>
                </a:solidFill>
                <a:latin typeface="+mj-lt"/>
              </a:rPr>
              <a:t>nghiệp</a:t>
            </a:r>
            <a:r>
              <a:rPr sz="1800" b="1" dirty="0">
                <a:solidFill>
                  <a:srgbClr val="7A1020"/>
                </a:solidFill>
                <a:latin typeface="+mj-lt"/>
              </a:rPr>
              <a:t> </a:t>
            </a:r>
            <a:r>
              <a:rPr sz="1800" b="1" dirty="0" err="1">
                <a:solidFill>
                  <a:srgbClr val="7A1020"/>
                </a:solidFill>
                <a:latin typeface="+mj-lt"/>
              </a:rPr>
              <a:t>vụ</a:t>
            </a:r>
            <a:endParaRPr sz="1800" b="1" dirty="0">
              <a:solidFill>
                <a:srgbClr val="7A1020"/>
              </a:solidFill>
              <a:latin typeface="+mj-lt"/>
            </a:endParaRPr>
          </a:p>
          <a:p>
            <a:pPr algn="l">
              <a:spcAft>
                <a:spcPts val="400"/>
              </a:spcAft>
            </a:pPr>
            <a:r>
              <a:rPr sz="1600" b="0" dirty="0">
                <a:solidFill>
                  <a:srgbClr val="2B2118"/>
                </a:solidFill>
                <a:latin typeface="+mj-lt"/>
              </a:rPr>
              <a:t>Q1  </a:t>
            </a:r>
            <a:r>
              <a:rPr sz="1600" b="0" dirty="0" err="1">
                <a:solidFill>
                  <a:srgbClr val="2B2118"/>
                </a:solidFill>
                <a:latin typeface="+mj-lt"/>
              </a:rPr>
              <a:t>Lọc</a:t>
            </a:r>
            <a:r>
              <a:rPr sz="1600" b="0" dirty="0">
                <a:solidFill>
                  <a:srgbClr val="2B2118"/>
                </a:solidFill>
                <a:latin typeface="+mj-lt"/>
              </a:rPr>
              <a:t> </a:t>
            </a:r>
            <a:r>
              <a:rPr sz="1600" b="0" dirty="0" err="1">
                <a:solidFill>
                  <a:srgbClr val="2B2118"/>
                </a:solidFill>
                <a:latin typeface="+mj-lt"/>
              </a:rPr>
              <a:t>đơn</a:t>
            </a:r>
            <a:r>
              <a:rPr sz="1600" b="0" dirty="0">
                <a:solidFill>
                  <a:srgbClr val="2B2118"/>
                </a:solidFill>
                <a:latin typeface="+mj-lt"/>
              </a:rPr>
              <a:t> </a:t>
            </a:r>
            <a:r>
              <a:rPr sz="1600" b="0" dirty="0" err="1">
                <a:solidFill>
                  <a:srgbClr val="2B2118"/>
                </a:solidFill>
                <a:latin typeface="+mj-lt"/>
              </a:rPr>
              <a:t>theo</a:t>
            </a:r>
            <a:r>
              <a:rPr sz="1600" b="0" dirty="0">
                <a:solidFill>
                  <a:srgbClr val="2B2118"/>
                </a:solidFill>
                <a:latin typeface="+mj-lt"/>
              </a:rPr>
              <a:t> </a:t>
            </a:r>
            <a:r>
              <a:rPr sz="1600" b="0" dirty="0" err="1">
                <a:solidFill>
                  <a:srgbClr val="2B2118"/>
                </a:solidFill>
                <a:latin typeface="+mj-lt"/>
              </a:rPr>
              <a:t>khoảng</a:t>
            </a:r>
            <a:r>
              <a:rPr sz="1600" b="0" dirty="0">
                <a:solidFill>
                  <a:srgbClr val="2B2118"/>
                </a:solidFill>
                <a:latin typeface="+mj-lt"/>
              </a:rPr>
              <a:t> </a:t>
            </a:r>
            <a:r>
              <a:rPr sz="1600" b="0" dirty="0" err="1">
                <a:solidFill>
                  <a:srgbClr val="2B2118"/>
                </a:solidFill>
                <a:latin typeface="+mj-lt"/>
              </a:rPr>
              <a:t>ngày</a:t>
            </a:r>
            <a:endParaRPr sz="1600" b="0" dirty="0">
              <a:solidFill>
                <a:srgbClr val="2B2118"/>
              </a:solidFill>
              <a:latin typeface="+mj-lt"/>
            </a:endParaRPr>
          </a:p>
          <a:p>
            <a:pPr algn="l">
              <a:spcAft>
                <a:spcPts val="400"/>
              </a:spcAft>
            </a:pPr>
            <a:r>
              <a:rPr sz="1600" b="0" dirty="0">
                <a:solidFill>
                  <a:srgbClr val="2B2118"/>
                </a:solidFill>
                <a:latin typeface="+mj-lt"/>
              </a:rPr>
              <a:t>Q2  Doanh </a:t>
            </a:r>
            <a:r>
              <a:rPr sz="1600" b="0" dirty="0" err="1">
                <a:solidFill>
                  <a:srgbClr val="2B2118"/>
                </a:solidFill>
                <a:latin typeface="+mj-lt"/>
              </a:rPr>
              <a:t>thu</a:t>
            </a:r>
            <a:r>
              <a:rPr sz="1600" b="0" dirty="0">
                <a:solidFill>
                  <a:srgbClr val="2B2118"/>
                </a:solidFill>
                <a:latin typeface="+mj-lt"/>
              </a:rPr>
              <a:t> </a:t>
            </a:r>
            <a:r>
              <a:rPr sz="1600" b="0" dirty="0" err="1">
                <a:solidFill>
                  <a:srgbClr val="2B2118"/>
                </a:solidFill>
                <a:latin typeface="+mj-lt"/>
              </a:rPr>
              <a:t>tháng</a:t>
            </a:r>
            <a:r>
              <a:rPr sz="1600" b="0" dirty="0">
                <a:solidFill>
                  <a:srgbClr val="2B2118"/>
                </a:solidFill>
                <a:latin typeface="+mj-lt"/>
              </a:rPr>
              <a:t>, </a:t>
            </a:r>
            <a:r>
              <a:rPr sz="1600" b="0" dirty="0" err="1">
                <a:solidFill>
                  <a:srgbClr val="2B2118"/>
                </a:solidFill>
                <a:latin typeface="+mj-lt"/>
              </a:rPr>
              <a:t>hàm</a:t>
            </a:r>
            <a:r>
              <a:rPr sz="1600" b="0" dirty="0">
                <a:solidFill>
                  <a:srgbClr val="2B2118"/>
                </a:solidFill>
                <a:latin typeface="+mj-lt"/>
              </a:rPr>
              <a:t> </a:t>
            </a:r>
            <a:r>
              <a:rPr sz="1600" b="0" dirty="0" err="1">
                <a:solidFill>
                  <a:srgbClr val="2B2118"/>
                </a:solidFill>
                <a:latin typeface="+mj-lt"/>
              </a:rPr>
              <a:t>bọc</a:t>
            </a:r>
            <a:r>
              <a:rPr sz="1600" b="0" dirty="0">
                <a:solidFill>
                  <a:srgbClr val="2B2118"/>
                </a:solidFill>
                <a:latin typeface="+mj-lt"/>
              </a:rPr>
              <a:t> </a:t>
            </a:r>
            <a:r>
              <a:rPr sz="1600" b="0" dirty="0" err="1">
                <a:solidFill>
                  <a:srgbClr val="2B2118"/>
                </a:solidFill>
                <a:latin typeface="+mj-lt"/>
              </a:rPr>
              <a:t>cột</a:t>
            </a:r>
            <a:endParaRPr sz="1600" b="0" dirty="0">
              <a:solidFill>
                <a:srgbClr val="2B2118"/>
              </a:solidFill>
              <a:latin typeface="+mj-lt"/>
            </a:endParaRPr>
          </a:p>
          <a:p>
            <a:pPr algn="l">
              <a:spcAft>
                <a:spcPts val="400"/>
              </a:spcAft>
            </a:pPr>
            <a:r>
              <a:rPr sz="1600" b="0" dirty="0">
                <a:solidFill>
                  <a:srgbClr val="2B2118"/>
                </a:solidFill>
                <a:latin typeface="+mj-lt"/>
              </a:rPr>
              <a:t>Q3  </a:t>
            </a:r>
            <a:r>
              <a:rPr sz="1600" b="0" dirty="0" err="1">
                <a:solidFill>
                  <a:srgbClr val="2B2118"/>
                </a:solidFill>
                <a:latin typeface="+mj-lt"/>
              </a:rPr>
              <a:t>Tìm</a:t>
            </a:r>
            <a:r>
              <a:rPr sz="1600" b="0" dirty="0">
                <a:solidFill>
                  <a:srgbClr val="2B2118"/>
                </a:solidFill>
                <a:latin typeface="+mj-lt"/>
              </a:rPr>
              <a:t> </a:t>
            </a:r>
            <a:r>
              <a:rPr sz="1600" b="0" dirty="0" err="1">
                <a:solidFill>
                  <a:srgbClr val="2B2118"/>
                </a:solidFill>
                <a:latin typeface="+mj-lt"/>
              </a:rPr>
              <a:t>khách</a:t>
            </a:r>
            <a:r>
              <a:rPr sz="1600" b="0" dirty="0">
                <a:solidFill>
                  <a:srgbClr val="2B2118"/>
                </a:solidFill>
                <a:latin typeface="+mj-lt"/>
              </a:rPr>
              <a:t> </a:t>
            </a:r>
            <a:r>
              <a:rPr sz="1600" b="0" dirty="0" err="1">
                <a:solidFill>
                  <a:srgbClr val="2B2118"/>
                </a:solidFill>
                <a:latin typeface="+mj-lt"/>
              </a:rPr>
              <a:t>theo</a:t>
            </a:r>
            <a:r>
              <a:rPr sz="1600" b="0" dirty="0">
                <a:solidFill>
                  <a:srgbClr val="2B2118"/>
                </a:solidFill>
                <a:latin typeface="+mj-lt"/>
              </a:rPr>
              <a:t> email, join </a:t>
            </a:r>
            <a:r>
              <a:rPr sz="1600" b="0" dirty="0" err="1">
                <a:solidFill>
                  <a:srgbClr val="2B2118"/>
                </a:solidFill>
                <a:latin typeface="+mj-lt"/>
              </a:rPr>
              <a:t>đơn</a:t>
            </a:r>
            <a:endParaRPr sz="1600" b="0" dirty="0">
              <a:solidFill>
                <a:srgbClr val="2B2118"/>
              </a:solidFill>
              <a:latin typeface="+mj-lt"/>
            </a:endParaRPr>
          </a:p>
          <a:p>
            <a:pPr algn="l">
              <a:spcAft>
                <a:spcPts val="400"/>
              </a:spcAft>
            </a:pPr>
            <a:r>
              <a:rPr sz="1600" b="0" dirty="0">
                <a:solidFill>
                  <a:srgbClr val="2B2118"/>
                </a:solidFill>
                <a:latin typeface="+mj-lt"/>
              </a:rPr>
              <a:t>Q4  Join 4 </a:t>
            </a:r>
            <a:r>
              <a:rPr sz="1600" b="0" dirty="0" err="1">
                <a:solidFill>
                  <a:srgbClr val="2B2118"/>
                </a:solidFill>
                <a:latin typeface="+mj-lt"/>
              </a:rPr>
              <a:t>bảng</a:t>
            </a:r>
            <a:r>
              <a:rPr sz="1600" b="0" dirty="0">
                <a:solidFill>
                  <a:srgbClr val="2B2118"/>
                </a:solidFill>
                <a:latin typeface="+mj-lt"/>
              </a:rPr>
              <a:t>, </a:t>
            </a:r>
            <a:r>
              <a:rPr sz="1600" b="0" dirty="0" err="1">
                <a:solidFill>
                  <a:srgbClr val="2B2118"/>
                </a:solidFill>
                <a:latin typeface="+mj-lt"/>
              </a:rPr>
              <a:t>doanh</a:t>
            </a:r>
            <a:r>
              <a:rPr sz="1600" b="0" dirty="0">
                <a:solidFill>
                  <a:srgbClr val="2B2118"/>
                </a:solidFill>
                <a:latin typeface="+mj-lt"/>
              </a:rPr>
              <a:t> </a:t>
            </a:r>
            <a:r>
              <a:rPr sz="1600" b="0" dirty="0" err="1">
                <a:solidFill>
                  <a:srgbClr val="2B2118"/>
                </a:solidFill>
                <a:latin typeface="+mj-lt"/>
              </a:rPr>
              <a:t>thu</a:t>
            </a:r>
            <a:r>
              <a:rPr sz="1600" b="0" dirty="0">
                <a:solidFill>
                  <a:srgbClr val="2B2118"/>
                </a:solidFill>
                <a:latin typeface="+mj-lt"/>
              </a:rPr>
              <a:t> </a:t>
            </a:r>
            <a:r>
              <a:rPr sz="1600" b="0" dirty="0" err="1">
                <a:solidFill>
                  <a:srgbClr val="2B2118"/>
                </a:solidFill>
                <a:latin typeface="+mj-lt"/>
              </a:rPr>
              <a:t>theo</a:t>
            </a:r>
            <a:r>
              <a:rPr sz="1600" b="0" dirty="0">
                <a:solidFill>
                  <a:srgbClr val="2B2118"/>
                </a:solidFill>
                <a:latin typeface="+mj-lt"/>
              </a:rPr>
              <a:t> </a:t>
            </a:r>
            <a:r>
              <a:rPr sz="1600" b="0" dirty="0" err="1">
                <a:solidFill>
                  <a:srgbClr val="2B2118"/>
                </a:solidFill>
                <a:latin typeface="+mj-lt"/>
              </a:rPr>
              <a:t>tháng</a:t>
            </a:r>
            <a:endParaRPr sz="1600" b="0" dirty="0">
              <a:solidFill>
                <a:srgbClr val="2B2118"/>
              </a:solidFill>
              <a:latin typeface="+mj-lt"/>
            </a:endParaRPr>
          </a:p>
          <a:p>
            <a:pPr algn="l">
              <a:spcAft>
                <a:spcPts val="400"/>
              </a:spcAft>
            </a:pPr>
            <a:r>
              <a:rPr sz="1600" b="0" dirty="0">
                <a:solidFill>
                  <a:srgbClr val="2B2118"/>
                </a:solidFill>
                <a:latin typeface="+mj-lt"/>
              </a:rPr>
              <a:t>Q5  Top 3 </a:t>
            </a:r>
            <a:r>
              <a:rPr sz="1600" b="0" dirty="0" err="1">
                <a:solidFill>
                  <a:srgbClr val="2B2118"/>
                </a:solidFill>
                <a:latin typeface="+mj-lt"/>
              </a:rPr>
              <a:t>sản</a:t>
            </a:r>
            <a:r>
              <a:rPr sz="1600" b="0" dirty="0">
                <a:solidFill>
                  <a:srgbClr val="2B2118"/>
                </a:solidFill>
                <a:latin typeface="+mj-lt"/>
              </a:rPr>
              <a:t> </a:t>
            </a:r>
            <a:r>
              <a:rPr sz="1600" b="0" dirty="0" err="1">
                <a:solidFill>
                  <a:srgbClr val="2B2118"/>
                </a:solidFill>
                <a:latin typeface="+mj-lt"/>
              </a:rPr>
              <a:t>phẩm</a:t>
            </a:r>
            <a:r>
              <a:rPr sz="1600" b="0" dirty="0">
                <a:solidFill>
                  <a:srgbClr val="2B2118"/>
                </a:solidFill>
                <a:latin typeface="+mj-lt"/>
              </a:rPr>
              <a:t> </a:t>
            </a:r>
            <a:r>
              <a:rPr sz="1600" b="0" dirty="0" err="1">
                <a:solidFill>
                  <a:srgbClr val="2B2118"/>
                </a:solidFill>
                <a:latin typeface="+mj-lt"/>
              </a:rPr>
              <a:t>mỗi</a:t>
            </a:r>
            <a:r>
              <a:rPr sz="1600" b="0" dirty="0">
                <a:solidFill>
                  <a:srgbClr val="2B2118"/>
                </a:solidFill>
                <a:latin typeface="+mj-lt"/>
              </a:rPr>
              <a:t> </a:t>
            </a:r>
            <a:r>
              <a:rPr sz="1600" b="0" dirty="0" err="1">
                <a:solidFill>
                  <a:srgbClr val="2B2118"/>
                </a:solidFill>
                <a:latin typeface="+mj-lt"/>
              </a:rPr>
              <a:t>danh</a:t>
            </a:r>
            <a:r>
              <a:rPr sz="1600" b="0" dirty="0">
                <a:solidFill>
                  <a:srgbClr val="2B2118"/>
                </a:solidFill>
                <a:latin typeface="+mj-lt"/>
              </a:rPr>
              <a:t> </a:t>
            </a:r>
            <a:r>
              <a:rPr sz="1600" b="0" dirty="0" err="1">
                <a:solidFill>
                  <a:srgbClr val="2B2118"/>
                </a:solidFill>
                <a:latin typeface="+mj-lt"/>
              </a:rPr>
              <a:t>mục</a:t>
            </a:r>
            <a:endParaRPr sz="1600" b="0" dirty="0">
              <a:solidFill>
                <a:srgbClr val="2B2118"/>
              </a:solidFill>
              <a:latin typeface="+mj-lt"/>
            </a:endParaRPr>
          </a:p>
          <a:p>
            <a:pPr algn="l">
              <a:spcAft>
                <a:spcPts val="400"/>
              </a:spcAft>
            </a:pPr>
            <a:r>
              <a:rPr sz="1600" b="0" dirty="0">
                <a:solidFill>
                  <a:srgbClr val="2B2118"/>
                </a:solidFill>
                <a:latin typeface="+mj-lt"/>
              </a:rPr>
              <a:t>Q6  Subquery </a:t>
            </a:r>
            <a:r>
              <a:rPr sz="1600" b="0" dirty="0" err="1">
                <a:solidFill>
                  <a:srgbClr val="2B2118"/>
                </a:solidFill>
                <a:latin typeface="+mj-lt"/>
              </a:rPr>
              <a:t>tương</a:t>
            </a:r>
            <a:r>
              <a:rPr sz="1600" b="0" dirty="0">
                <a:solidFill>
                  <a:srgbClr val="2B2118"/>
                </a:solidFill>
                <a:latin typeface="+mj-lt"/>
              </a:rPr>
              <a:t> </a:t>
            </a:r>
            <a:r>
              <a:rPr sz="1600" b="0" dirty="0" err="1">
                <a:solidFill>
                  <a:srgbClr val="2B2118"/>
                </a:solidFill>
                <a:latin typeface="+mj-lt"/>
              </a:rPr>
              <a:t>quan</a:t>
            </a:r>
            <a:endParaRPr sz="1600" b="0" dirty="0">
              <a:solidFill>
                <a:srgbClr val="2B2118"/>
              </a:solidFill>
              <a:latin typeface="+mj-lt"/>
            </a:endParaRPr>
          </a:p>
          <a:p>
            <a:pPr algn="l">
              <a:spcAft>
                <a:spcPts val="400"/>
              </a:spcAft>
            </a:pPr>
            <a:r>
              <a:rPr sz="1600" b="0" dirty="0">
                <a:solidFill>
                  <a:srgbClr val="2B2118"/>
                </a:solidFill>
                <a:latin typeface="+mj-lt"/>
              </a:rPr>
              <a:t>Q7  </a:t>
            </a:r>
            <a:r>
              <a:rPr sz="1600" b="0" dirty="0" err="1">
                <a:solidFill>
                  <a:srgbClr val="2B2118"/>
                </a:solidFill>
                <a:latin typeface="+mj-lt"/>
              </a:rPr>
              <a:t>Phân</a:t>
            </a:r>
            <a:r>
              <a:rPr sz="1600" b="0" dirty="0">
                <a:solidFill>
                  <a:srgbClr val="2B2118"/>
                </a:solidFill>
                <a:latin typeface="+mj-lt"/>
              </a:rPr>
              <a:t> </a:t>
            </a:r>
            <a:r>
              <a:rPr sz="1600" b="0" dirty="0" err="1">
                <a:solidFill>
                  <a:srgbClr val="2B2118"/>
                </a:solidFill>
                <a:latin typeface="+mj-lt"/>
              </a:rPr>
              <a:t>trang</a:t>
            </a:r>
            <a:r>
              <a:rPr sz="1600" b="0" dirty="0">
                <a:solidFill>
                  <a:srgbClr val="2B2118"/>
                </a:solidFill>
                <a:latin typeface="+mj-lt"/>
              </a:rPr>
              <a:t> </a:t>
            </a:r>
            <a:r>
              <a:rPr sz="1600" b="0" dirty="0" err="1">
                <a:solidFill>
                  <a:srgbClr val="2B2118"/>
                </a:solidFill>
                <a:latin typeface="+mj-lt"/>
              </a:rPr>
              <a:t>sâu</a:t>
            </a:r>
            <a:r>
              <a:rPr sz="1600" b="0" dirty="0">
                <a:solidFill>
                  <a:srgbClr val="2B2118"/>
                </a:solidFill>
                <a:latin typeface="+mj-lt"/>
              </a:rPr>
              <a:t> (OFFSET)</a:t>
            </a:r>
          </a:p>
          <a:p>
            <a:pPr algn="l">
              <a:spcAft>
                <a:spcPts val="400"/>
              </a:spcAft>
            </a:pPr>
            <a:r>
              <a:rPr sz="1600" b="0" dirty="0">
                <a:solidFill>
                  <a:srgbClr val="2B2118"/>
                </a:solidFill>
                <a:latin typeface="+mj-lt"/>
              </a:rPr>
              <a:t>Q8  Top 10 </a:t>
            </a:r>
            <a:r>
              <a:rPr sz="1600" b="0" dirty="0" err="1">
                <a:solidFill>
                  <a:srgbClr val="2B2118"/>
                </a:solidFill>
                <a:latin typeface="+mj-lt"/>
              </a:rPr>
              <a:t>khách</a:t>
            </a:r>
            <a:r>
              <a:rPr sz="1600" b="0" dirty="0">
                <a:solidFill>
                  <a:srgbClr val="2B2118"/>
                </a:solidFill>
                <a:latin typeface="+mj-lt"/>
              </a:rPr>
              <a:t> ở Hà </a:t>
            </a:r>
            <a:r>
              <a:rPr sz="1600" b="0" dirty="0" err="1">
                <a:solidFill>
                  <a:srgbClr val="2B2118"/>
                </a:solidFill>
                <a:latin typeface="+mj-lt"/>
              </a:rPr>
              <a:t>Nội</a:t>
            </a:r>
            <a:endParaRPr sz="1600" b="0" dirty="0">
              <a:solidFill>
                <a:srgbClr val="2B2118"/>
              </a:solidFill>
              <a:latin typeface="+mj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97280" y="5303520"/>
            <a:ext cx="905256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+mj-lt"/>
              </a:rPr>
              <a:t>MySQL 8.0.46 · InnoDB · ban đầu chỉ có khóa chính, chưa có index phụ</a:t>
            </a:r>
          </a:p>
        </p:txBody>
      </p:sp>
    </p:spTree>
    <p:extLst>
      <p:ext uri="{BB962C8B-B14F-4D97-AF65-F5344CB8AC3E}">
        <p14:creationId xmlns:p14="http://schemas.microsoft.com/office/powerpoint/2010/main" val="226324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7950DE-1D36-4E21-8806-591FFC9ED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61B196-0B9D-4664-A7FE-86032CF24F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80" b="89920" l="9929" r="91135">
                        <a14:foregroundMark x1="91135" y1="56986" x2="91135" y2="56986"/>
                        <a14:foregroundMark x1="48936" y1="27246" x2="48936" y2="27246"/>
                        <a14:foregroundMark x1="63652" y1="27844" x2="63652" y2="27844"/>
                        <a14:foregroundMark x1="63475" y1="27844" x2="63475" y2="27844"/>
                        <a14:foregroundMark x1="62766" y1="27246" x2="62766" y2="27246"/>
                        <a14:foregroundMark x1="62766" y1="27246" x2="63652" y2="29541"/>
                        <a14:foregroundMark x1="62766" y1="27046" x2="62766" y2="27046"/>
                        <a14:foregroundMark x1="61348" y1="26647" x2="61348" y2="26647"/>
                        <a14:foregroundMark x1="53369" y1="25349" x2="53369" y2="25349"/>
                        <a14:foregroundMark x1="54787" y1="24750" x2="54787" y2="24750"/>
                        <a14:foregroundMark x1="43440" y1="69760" x2="43440" y2="69760"/>
                        <a14:backgroundMark x1="70567" y1="75549" x2="67908" y2="76547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47" t="22166" b="21093"/>
          <a:stretch/>
        </p:blipFill>
        <p:spPr>
          <a:xfrm>
            <a:off x="4019149" y="1637981"/>
            <a:ext cx="4153701" cy="43366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95E314-F8DC-4297-B7C8-01C4AD79EDA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80" b="89920" l="9929" r="91135">
                        <a14:foregroundMark x1="91135" y1="56986" x2="91135" y2="56986"/>
                        <a14:foregroundMark x1="48936" y1="27246" x2="48936" y2="27246"/>
                        <a14:foregroundMark x1="63652" y1="27844" x2="63652" y2="27844"/>
                        <a14:foregroundMark x1="63475" y1="27844" x2="63475" y2="27844"/>
                        <a14:foregroundMark x1="62766" y1="27246" x2="62766" y2="27246"/>
                        <a14:foregroundMark x1="62766" y1="27246" x2="63652" y2="29541"/>
                        <a14:foregroundMark x1="62766" y1="27046" x2="62766" y2="27046"/>
                        <a14:foregroundMark x1="61348" y1="26647" x2="61348" y2="26647"/>
                        <a14:foregroundMark x1="53369" y1="25349" x2="53369" y2="25349"/>
                        <a14:foregroundMark x1="54787" y1="24750" x2="54787" y2="24750"/>
                        <a14:foregroundMark x1="43440" y1="69760" x2="43440" y2="69760"/>
                        <a14:backgroundMark x1="70567" y1="75549" x2="67908" y2="765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47" t="22166" r="48277" b="49463"/>
          <a:stretch/>
        </p:blipFill>
        <p:spPr>
          <a:xfrm>
            <a:off x="4019149" y="1637981"/>
            <a:ext cx="2076852" cy="21683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070512-31F7-4640-B22F-9238554DEE5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80" b="89920" l="9929" r="91135">
                        <a14:foregroundMark x1="91135" y1="56986" x2="91135" y2="56986"/>
                        <a14:foregroundMark x1="48936" y1="27246" x2="48936" y2="27246"/>
                        <a14:foregroundMark x1="63652" y1="27844" x2="63652" y2="27844"/>
                        <a14:foregroundMark x1="63475" y1="27844" x2="63475" y2="27844"/>
                        <a14:foregroundMark x1="62766" y1="27246" x2="62766" y2="27246"/>
                        <a14:foregroundMark x1="62766" y1="27246" x2="63652" y2="29541"/>
                        <a14:foregroundMark x1="62766" y1="27046" x2="62766" y2="27046"/>
                        <a14:foregroundMark x1="61348" y1="26647" x2="61348" y2="26647"/>
                        <a14:foregroundMark x1="53369" y1="25349" x2="53369" y2="25349"/>
                        <a14:foregroundMark x1="54787" y1="24750" x2="54787" y2="24750"/>
                        <a14:foregroundMark x1="43440" y1="69760" x2="43440" y2="69760"/>
                        <a14:backgroundMark x1="70567" y1="75549" x2="67908" y2="765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724" t="24226" r="8407" b="49463"/>
          <a:stretch/>
        </p:blipFill>
        <p:spPr>
          <a:xfrm>
            <a:off x="6096000" y="1795384"/>
            <a:ext cx="1715146" cy="20109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D2621D-872B-415E-AB3B-9590EE24277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80" b="89920" l="9929" r="91135">
                        <a14:foregroundMark x1="91135" y1="56986" x2="91135" y2="56986"/>
                        <a14:foregroundMark x1="48936" y1="27246" x2="48936" y2="27246"/>
                        <a14:foregroundMark x1="63652" y1="27844" x2="63652" y2="27844"/>
                        <a14:foregroundMark x1="63475" y1="27844" x2="63475" y2="27844"/>
                        <a14:foregroundMark x1="62766" y1="27246" x2="62766" y2="27246"/>
                        <a14:foregroundMark x1="62766" y1="27246" x2="63652" y2="29541"/>
                        <a14:foregroundMark x1="62766" y1="27046" x2="62766" y2="27046"/>
                        <a14:foregroundMark x1="61348" y1="26647" x2="61348" y2="26647"/>
                        <a14:foregroundMark x1="53369" y1="25349" x2="53369" y2="25349"/>
                        <a14:foregroundMark x1="54787" y1="24750" x2="54787" y2="24750"/>
                        <a14:foregroundMark x1="43440" y1="69760" x2="43440" y2="69760"/>
                        <a14:backgroundMark x1="70567" y1="75549" x2="67908" y2="765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553" t="50537" r="48277" b="22340"/>
          <a:stretch/>
        </p:blipFill>
        <p:spPr>
          <a:xfrm>
            <a:off x="4238785" y="3806289"/>
            <a:ext cx="1857214" cy="20728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5FEDC3-9ADB-4BBD-9C89-A91EA2A6661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80" b="89920" l="9929" r="91135">
                        <a14:foregroundMark x1="91135" y1="56986" x2="91135" y2="56986"/>
                        <a14:foregroundMark x1="48936" y1="27246" x2="48936" y2="27246"/>
                        <a14:foregroundMark x1="63652" y1="27844" x2="63652" y2="27844"/>
                        <a14:foregroundMark x1="63475" y1="27844" x2="63475" y2="27844"/>
                        <a14:foregroundMark x1="62766" y1="27246" x2="62766" y2="27246"/>
                        <a14:foregroundMark x1="62766" y1="27246" x2="63652" y2="29541"/>
                        <a14:foregroundMark x1="62766" y1="27046" x2="62766" y2="27046"/>
                        <a14:foregroundMark x1="61348" y1="26647" x2="61348" y2="26647"/>
                        <a14:foregroundMark x1="53369" y1="25349" x2="53369" y2="25349"/>
                        <a14:foregroundMark x1="54787" y1="24750" x2="54787" y2="24750"/>
                        <a14:foregroundMark x1="43440" y1="69760" x2="43440" y2="69760"/>
                        <a14:backgroundMark x1="70567" y1="75549" x2="67908" y2="765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723" t="50537" b="21092"/>
          <a:stretch/>
        </p:blipFill>
        <p:spPr>
          <a:xfrm>
            <a:off x="6096001" y="3806289"/>
            <a:ext cx="2076849" cy="21683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ACCAB47-AC41-4D08-BD4B-A9C1E320027E}"/>
              </a:ext>
            </a:extLst>
          </p:cNvPr>
          <p:cNvSpPr txBox="1"/>
          <p:nvPr/>
        </p:nvSpPr>
        <p:spPr>
          <a:xfrm>
            <a:off x="3559278" y="496483"/>
            <a:ext cx="53197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 PHÁP ĐO</a:t>
            </a:r>
            <a:endParaRPr lang="vi-VN" sz="4800" b="1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620D7B0-2F1A-4988-99E1-C0FFC9837B94}"/>
              </a:ext>
            </a:extLst>
          </p:cNvPr>
          <p:cNvSpPr/>
          <p:nvPr/>
        </p:nvSpPr>
        <p:spPr>
          <a:xfrm>
            <a:off x="6925437" y="2450291"/>
            <a:ext cx="2788834" cy="586128"/>
          </a:xfrm>
          <a:custGeom>
            <a:avLst/>
            <a:gdLst>
              <a:gd name="connsiteX0" fmla="*/ 0 w 1691149"/>
              <a:gd name="connsiteY0" fmla="*/ 904568 h 904568"/>
              <a:gd name="connsiteX1" fmla="*/ 462116 w 1691149"/>
              <a:gd name="connsiteY1" fmla="*/ 29497 h 904568"/>
              <a:gd name="connsiteX2" fmla="*/ 1691149 w 1691149"/>
              <a:gd name="connsiteY2" fmla="*/ 0 h 904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91149" h="904568">
                <a:moveTo>
                  <a:pt x="0" y="904568"/>
                </a:moveTo>
                <a:lnTo>
                  <a:pt x="462116" y="29497"/>
                </a:lnTo>
                <a:lnTo>
                  <a:pt x="1691149" y="0"/>
                </a:lnTo>
              </a:path>
            </a:pathLst>
          </a:custGeom>
          <a:noFill/>
          <a:ln w="38100">
            <a:solidFill>
              <a:srgbClr val="1ECE29"/>
            </a:solidFill>
          </a:ln>
          <a:effectLst>
            <a:glow rad="101600">
              <a:srgbClr val="1ECE29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E0965A8-B348-4386-A1A4-4403A8BAA0BC}"/>
              </a:ext>
            </a:extLst>
          </p:cNvPr>
          <p:cNvSpPr/>
          <p:nvPr/>
        </p:nvSpPr>
        <p:spPr>
          <a:xfrm flipH="1">
            <a:off x="2962560" y="2547058"/>
            <a:ext cx="2502039" cy="586128"/>
          </a:xfrm>
          <a:custGeom>
            <a:avLst/>
            <a:gdLst>
              <a:gd name="connsiteX0" fmla="*/ 0 w 1691149"/>
              <a:gd name="connsiteY0" fmla="*/ 904568 h 904568"/>
              <a:gd name="connsiteX1" fmla="*/ 462116 w 1691149"/>
              <a:gd name="connsiteY1" fmla="*/ 29497 h 904568"/>
              <a:gd name="connsiteX2" fmla="*/ 1691149 w 1691149"/>
              <a:gd name="connsiteY2" fmla="*/ 0 h 904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91149" h="904568">
                <a:moveTo>
                  <a:pt x="0" y="904568"/>
                </a:moveTo>
                <a:lnTo>
                  <a:pt x="462116" y="29497"/>
                </a:lnTo>
                <a:lnTo>
                  <a:pt x="1691149" y="0"/>
                </a:lnTo>
              </a:path>
            </a:pathLst>
          </a:custGeom>
          <a:noFill/>
          <a:ln w="38100">
            <a:solidFill>
              <a:srgbClr val="C90223"/>
            </a:solidFill>
          </a:ln>
          <a:effectLst>
            <a:glow rad="101600">
              <a:srgbClr val="C00000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C4EB9D0-4BCC-4815-A8EB-24EEC1CCAB1C}"/>
              </a:ext>
            </a:extLst>
          </p:cNvPr>
          <p:cNvSpPr/>
          <p:nvPr/>
        </p:nvSpPr>
        <p:spPr>
          <a:xfrm flipH="1" flipV="1">
            <a:off x="2330245" y="4788310"/>
            <a:ext cx="3134355" cy="741074"/>
          </a:xfrm>
          <a:custGeom>
            <a:avLst/>
            <a:gdLst>
              <a:gd name="connsiteX0" fmla="*/ 0 w 1691149"/>
              <a:gd name="connsiteY0" fmla="*/ 904568 h 904568"/>
              <a:gd name="connsiteX1" fmla="*/ 462116 w 1691149"/>
              <a:gd name="connsiteY1" fmla="*/ 29497 h 904568"/>
              <a:gd name="connsiteX2" fmla="*/ 1691149 w 1691149"/>
              <a:gd name="connsiteY2" fmla="*/ 0 h 904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91149" h="904568">
                <a:moveTo>
                  <a:pt x="0" y="904568"/>
                </a:moveTo>
                <a:lnTo>
                  <a:pt x="462116" y="29497"/>
                </a:lnTo>
                <a:lnTo>
                  <a:pt x="1691149" y="0"/>
                </a:lnTo>
              </a:path>
            </a:pathLst>
          </a:custGeom>
          <a:noFill/>
          <a:ln w="38100">
            <a:solidFill>
              <a:srgbClr val="F0AC05"/>
            </a:solidFill>
          </a:ln>
          <a:effectLst>
            <a:glow rad="101600">
              <a:srgbClr val="F0AC05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5C7071A-9A8E-4917-989F-A2718B522014}"/>
              </a:ext>
            </a:extLst>
          </p:cNvPr>
          <p:cNvSpPr/>
          <p:nvPr/>
        </p:nvSpPr>
        <p:spPr>
          <a:xfrm flipV="1">
            <a:off x="7074421" y="4519906"/>
            <a:ext cx="2639850" cy="741074"/>
          </a:xfrm>
          <a:custGeom>
            <a:avLst/>
            <a:gdLst>
              <a:gd name="connsiteX0" fmla="*/ 0 w 1691149"/>
              <a:gd name="connsiteY0" fmla="*/ 904568 h 904568"/>
              <a:gd name="connsiteX1" fmla="*/ 462116 w 1691149"/>
              <a:gd name="connsiteY1" fmla="*/ 29497 h 904568"/>
              <a:gd name="connsiteX2" fmla="*/ 1691149 w 1691149"/>
              <a:gd name="connsiteY2" fmla="*/ 0 h 904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91149" h="904568">
                <a:moveTo>
                  <a:pt x="0" y="904568"/>
                </a:moveTo>
                <a:lnTo>
                  <a:pt x="462116" y="29497"/>
                </a:lnTo>
                <a:lnTo>
                  <a:pt x="1691149" y="0"/>
                </a:lnTo>
              </a:path>
            </a:pathLst>
          </a:custGeom>
          <a:noFill/>
          <a:ln w="38100">
            <a:solidFill>
              <a:srgbClr val="2071D3"/>
            </a:solidFill>
          </a:ln>
          <a:effectLst>
            <a:glow rad="101600">
              <a:srgbClr val="2071D3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61476D-D3A5-4E52-BF08-8008EEDC69B4}"/>
              </a:ext>
            </a:extLst>
          </p:cNvPr>
          <p:cNvSpPr txBox="1"/>
          <p:nvPr/>
        </p:nvSpPr>
        <p:spPr>
          <a:xfrm>
            <a:off x="2906288" y="2010087"/>
            <a:ext cx="2076852" cy="400110"/>
          </a:xfrm>
          <a:prstGeom prst="rect">
            <a:avLst/>
          </a:prstGeom>
          <a:noFill/>
          <a:effectLst>
            <a:glow rad="101600">
              <a:srgbClr val="C90223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C90223"/>
                </a:solidFill>
                <a:effectLst>
                  <a:glow rad="101600">
                    <a:srgbClr val="C90223">
                      <a:alpha val="60000"/>
                    </a:srgb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endParaRPr lang="vi-VN" sz="2800" b="1">
              <a:solidFill>
                <a:srgbClr val="C90223"/>
              </a:solidFill>
              <a:effectLst>
                <a:glow rad="101600">
                  <a:srgbClr val="C90223">
                    <a:alpha val="60000"/>
                  </a:srgb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0098CE-3F23-401C-AE6F-BF5EA55933E3}"/>
              </a:ext>
            </a:extLst>
          </p:cNvPr>
          <p:cNvSpPr txBox="1"/>
          <p:nvPr/>
        </p:nvSpPr>
        <p:spPr>
          <a:xfrm>
            <a:off x="7641564" y="1867820"/>
            <a:ext cx="2076852" cy="400110"/>
          </a:xfrm>
          <a:prstGeom prst="rect">
            <a:avLst/>
          </a:prstGeom>
          <a:noFill/>
          <a:effectLst>
            <a:glow rad="101600">
              <a:srgbClr val="C90223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1ECE29"/>
                </a:solidFill>
                <a:effectLst>
                  <a:glow rad="101600">
                    <a:srgbClr val="1ECE29">
                      <a:alpha val="60000"/>
                    </a:srgb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ĐỌC PLAN</a:t>
            </a:r>
            <a:endParaRPr lang="vi-VN" sz="2800" b="1">
              <a:solidFill>
                <a:srgbClr val="1ECE29"/>
              </a:solidFill>
              <a:effectLst>
                <a:glow rad="101600">
                  <a:srgbClr val="1ECE29">
                    <a:alpha val="60000"/>
                  </a:srgb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39A847-89C4-482A-87D6-4B8D07636EF4}"/>
              </a:ext>
            </a:extLst>
          </p:cNvPr>
          <p:cNvSpPr txBox="1"/>
          <p:nvPr/>
        </p:nvSpPr>
        <p:spPr>
          <a:xfrm>
            <a:off x="2262497" y="4999370"/>
            <a:ext cx="2076852" cy="400110"/>
          </a:xfrm>
          <a:prstGeom prst="rect">
            <a:avLst/>
          </a:prstGeom>
          <a:noFill/>
          <a:effectLst>
            <a:glow rad="101600">
              <a:srgbClr val="C90223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F0AC05"/>
                </a:solidFill>
                <a:effectLst>
                  <a:glow rad="101600">
                    <a:srgbClr val="F0AC05">
                      <a:alpha val="60000"/>
                    </a:srgb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ĐỔI MỘT THỨ</a:t>
            </a:r>
            <a:endParaRPr lang="vi-VN" sz="2800" b="1">
              <a:solidFill>
                <a:srgbClr val="F0AC05"/>
              </a:solidFill>
              <a:effectLst>
                <a:glow rad="101600">
                  <a:srgbClr val="F0AC05">
                    <a:alpha val="60000"/>
                  </a:srgb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354671-07E3-401D-A5C4-75ECEF539445}"/>
              </a:ext>
            </a:extLst>
          </p:cNvPr>
          <p:cNvSpPr txBox="1"/>
          <p:nvPr/>
        </p:nvSpPr>
        <p:spPr>
          <a:xfrm>
            <a:off x="7766317" y="4737760"/>
            <a:ext cx="2076852" cy="400110"/>
          </a:xfrm>
          <a:prstGeom prst="rect">
            <a:avLst/>
          </a:prstGeom>
          <a:noFill/>
          <a:effectLst>
            <a:glow rad="101600">
              <a:srgbClr val="C90223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2071D3"/>
                </a:solidFill>
                <a:effectLst>
                  <a:glow rad="101600">
                    <a:srgbClr val="2071D3">
                      <a:alpha val="60000"/>
                    </a:srgb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ĐO LẶP LẠI</a:t>
            </a:r>
            <a:endParaRPr lang="vi-VN" sz="2800" b="1">
              <a:solidFill>
                <a:srgbClr val="2071D3"/>
              </a:solidFill>
              <a:effectLst>
                <a:glow rad="101600">
                  <a:srgbClr val="2071D3">
                    <a:alpha val="60000"/>
                  </a:srgb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22EF5AE-90ED-4E32-8D22-114152C1AC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7231" b="91692" l="10000" r="90000">
                        <a14:foregroundMark x1="43077" y1="9538" x2="54000" y2="9385"/>
                        <a14:foregroundMark x1="54000" y1="9385" x2="60923" y2="9385"/>
                        <a14:foregroundMark x1="60000" y1="91846" x2="60000" y2="91846"/>
                        <a14:foregroundMark x1="84462" y1="63538" x2="84462" y2="63538"/>
                        <a14:foregroundMark x1="60308" y1="7231" x2="60308" y2="7231"/>
                        <a14:foregroundMark x1="48769" y1="7692" x2="48769" y2="7692"/>
                        <a14:foregroundMark x1="17846" y1="65846" x2="17846" y2="65846"/>
                        <a14:foregroundMark x1="16769" y1="64462" x2="16769" y2="64462"/>
                        <a14:foregroundMark x1="84923" y1="65231" x2="79692" y2="721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5302" y="4512155"/>
            <a:ext cx="1293383" cy="129338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C0174FC-5CF1-4CD0-9973-661CEA012B34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67125" b="87375" l="38889" r="66000">
                        <a14:foregroundMark x1="39111" y1="75750" x2="39111" y2="75750"/>
                        <a14:foregroundMark x1="49778" y1="78000" x2="49778" y2="78000"/>
                        <a14:foregroundMark x1="57778" y1="77750" x2="57778" y2="77750"/>
                        <a14:foregroundMark x1="49778" y1="77625" x2="49778" y2="77625"/>
                        <a14:foregroundMark x1="47333" y1="83625" x2="47333" y2="83625"/>
                        <a14:foregroundMark x1="52444" y1="82875" x2="52889" y2="85250"/>
                        <a14:foregroundMark x1="47111" y1="82750" x2="47333" y2="85250"/>
                        <a14:foregroundMark x1="47333" y1="85250" x2="49556" y2="86250"/>
                        <a14:foregroundMark x1="52000" y1="83500" x2="52000" y2="83500"/>
                        <a14:foregroundMark x1="51333" y1="84000" x2="51333" y2="84000"/>
                        <a14:foregroundMark x1="53333" y1="87375" x2="53333" y2="87375"/>
                        <a14:foregroundMark x1="48222" y1="77250" x2="48222" y2="772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187" t="64928" r="30224" b="12366"/>
          <a:stretch/>
        </p:blipFill>
        <p:spPr>
          <a:xfrm rot="21008371">
            <a:off x="9589593" y="1317318"/>
            <a:ext cx="1072712" cy="132867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C12FB1F-9EA2-491E-BBF3-3BDCDF6C4DF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385" b="90154" l="10000" r="90000">
                        <a14:foregroundMark x1="51538" y1="9385" x2="51538" y2="9385"/>
                        <a14:foregroundMark x1="77846" y1="90154" x2="77846" y2="90154"/>
                        <a14:foregroundMark x1="66923" y1="89846" x2="66923" y2="89846"/>
                        <a14:foregroundMark x1="48462" y1="70000" x2="48462" y2="70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56" y="4531890"/>
            <a:ext cx="1458180" cy="14581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7195414-E0FD-49AC-A62C-A1C06B5A009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600" l="8800" r="90000">
                        <a14:foregroundMark x1="8800" y1="57200" x2="8800" y2="57200"/>
                        <a14:foregroundMark x1="38667" y1="51000" x2="38667" y2="51000"/>
                        <a14:foregroundMark x1="56400" y1="45800" x2="56400" y2="45800"/>
                        <a14:foregroundMark x1="55200" y1="90200" x2="55200" y2="90200"/>
                        <a14:foregroundMark x1="42800" y1="90600" x2="42800" y2="90600"/>
                        <a14:foregroundMark x1="55467" y1="88900" x2="59467" y2="89300"/>
                        <a14:foregroundMark x1="38933" y1="51400" x2="38933" y2="514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385">
            <a:off x="1672123" y="848417"/>
            <a:ext cx="1511625" cy="201550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365760" y="5943600"/>
            <a:ext cx="278892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Baseline: 8 truy vấn chưa tối ưu, kiểm tra kết quả đúng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91840" y="5943600"/>
            <a:ext cx="278892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Đọc plan: EXPLAIN ANALYZE, so rows= với actual rows=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17920" y="5943600"/>
            <a:ext cx="278892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Mỗi bước chỉ đổi một nhóm: index, viết lại, tổng hợp, partition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44000" y="5943600"/>
            <a:ext cx="2788920" cy="7386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Một lần làm nóng + 5 lần đo (3 với truy vấn chậm): trung bình, trung vị, độ lệch chuẩn</a:t>
            </a:r>
          </a:p>
        </p:txBody>
      </p:sp>
    </p:spTree>
    <p:extLst>
      <p:ext uri="{BB962C8B-B14F-4D97-AF65-F5344CB8AC3E}">
        <p14:creationId xmlns:p14="http://schemas.microsoft.com/office/powerpoint/2010/main" val="3853816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10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91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491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100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2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491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491"/>
                            </p:stCondLst>
                            <p:childTnLst>
                              <p:par>
                                <p:cTn id="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 uiExpand="1" build="p" bldLvl="5" animBg="1"/>
      <p:bldP spid="17" grpId="0" uiExpand="1" build="p" bldLvl="5" animBg="1"/>
      <p:bldP spid="18" grpId="0" uiExpand="1" build="p" bldLvl="5" animBg="1"/>
      <p:bldP spid="19" grpId="0" uiExpand="1" build="p" bldLvl="5" animBg="1"/>
      <p:bldP spid="21" grpId="0"/>
      <p:bldP spid="22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586A13-B16F-4969-8B18-2ABA6A36C24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7B674FE-9A51-4488-96E1-CC3C83BC593B}"/>
              </a:ext>
            </a:extLst>
          </p:cNvPr>
          <p:cNvSpPr/>
          <p:nvPr/>
        </p:nvSpPr>
        <p:spPr>
          <a:xfrm rot="16200000">
            <a:off x="-1517072" y="1517071"/>
            <a:ext cx="6858003" cy="3823855"/>
          </a:xfrm>
          <a:prstGeom prst="rect">
            <a:avLst/>
          </a:prstGeom>
          <a:solidFill>
            <a:srgbClr val="1C7352"/>
          </a:solidFill>
          <a:ln>
            <a:solidFill>
              <a:srgbClr val="1C7352"/>
            </a:solidFill>
          </a:ln>
          <a:effectLst>
            <a:glow rad="101600">
              <a:srgbClr val="1C7352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277B51-3293-4F81-A242-B488046ACB9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7125" b="87375" l="38889" r="66000">
                        <a14:foregroundMark x1="39111" y1="75750" x2="39111" y2="75750"/>
                        <a14:foregroundMark x1="49778" y1="78000" x2="49778" y2="78000"/>
                        <a14:foregroundMark x1="57778" y1="77750" x2="57778" y2="77750"/>
                        <a14:foregroundMark x1="49778" y1="77625" x2="49778" y2="77625"/>
                        <a14:foregroundMark x1="47333" y1="83625" x2="47333" y2="83625"/>
                        <a14:foregroundMark x1="52444" y1="82875" x2="52889" y2="85250"/>
                        <a14:foregroundMark x1="47111" y1="82750" x2="47333" y2="85250"/>
                        <a14:foregroundMark x1="47333" y1="85250" x2="49556" y2="86250"/>
                        <a14:foregroundMark x1="52000" y1="83500" x2="52000" y2="83500"/>
                        <a14:foregroundMark x1="51333" y1="84000" x2="51333" y2="84000"/>
                        <a14:foregroundMark x1="53333" y1="87375" x2="53333" y2="87375"/>
                        <a14:foregroundMark x1="48222" y1="77250" x2="48222" y2="772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187" t="64928" r="30224" b="12366"/>
          <a:stretch/>
        </p:blipFill>
        <p:spPr>
          <a:xfrm rot="21008371">
            <a:off x="12583693" y="5313290"/>
            <a:ext cx="1425922" cy="17661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F4AEAF-48B6-413C-AA6A-9FFE3AED78B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80" b="89920" l="9929" r="91135">
                        <a14:foregroundMark x1="91135" y1="56986" x2="91135" y2="56986"/>
                        <a14:foregroundMark x1="48936" y1="27246" x2="48936" y2="27246"/>
                        <a14:foregroundMark x1="63652" y1="27844" x2="63652" y2="27844"/>
                        <a14:foregroundMark x1="63475" y1="27844" x2="63475" y2="27844"/>
                        <a14:foregroundMark x1="62766" y1="27246" x2="62766" y2="27246"/>
                        <a14:foregroundMark x1="62766" y1="27246" x2="63652" y2="29541"/>
                        <a14:foregroundMark x1="62766" y1="27046" x2="62766" y2="27046"/>
                        <a14:foregroundMark x1="61348" y1="26647" x2="61348" y2="26647"/>
                        <a14:foregroundMark x1="53369" y1="25349" x2="53369" y2="25349"/>
                        <a14:foregroundMark x1="54787" y1="24750" x2="54787" y2="24750"/>
                        <a14:foregroundMark x1="43440" y1="69760" x2="43440" y2="69760"/>
                        <a14:backgroundMark x1="70567" y1="75549" x2="67908" y2="765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47" t="22166" b="21093"/>
          <a:stretch/>
        </p:blipFill>
        <p:spPr>
          <a:xfrm>
            <a:off x="-1774417" y="-1924424"/>
            <a:ext cx="1526070" cy="1593273"/>
          </a:xfrm>
          <a:prstGeom prst="rect">
            <a:avLst/>
          </a:prstGeom>
        </p:spPr>
      </p:pic>
      <p:pic>
        <p:nvPicPr>
          <p:cNvPr id="11" name="Picture 10" descr="A picture containing vector graphics, fabric&#10;&#10;Description automatically generated">
            <a:extLst>
              <a:ext uri="{FF2B5EF4-FFF2-40B4-BE49-F238E27FC236}">
                <a16:creationId xmlns:a16="http://schemas.microsoft.com/office/drawing/2014/main" id="{1501A170-DB50-46C8-A557-E05888FF9A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2678" b="97090" l="9405" r="91310">
                        <a14:foregroundMark x1="56667" y1="8498" x2="55952" y2="13388"/>
                        <a14:foregroundMark x1="41905" y1="90570" x2="57143" y2="93364"/>
                        <a14:foregroundMark x1="50357" y1="97206" x2="50357" y2="97206"/>
                        <a14:foregroundMark x1="91190" y1="37485" x2="91310" y2="39930"/>
                        <a14:foregroundMark x1="90238" y1="77183" x2="90238" y2="77183"/>
                        <a14:foregroundMark x1="90714" y1="77998" x2="90714" y2="77998"/>
                        <a14:foregroundMark x1="9405" y1="79744" x2="9405" y2="79744"/>
                        <a14:foregroundMark x1="58810" y1="4889" x2="58810" y2="4889"/>
                        <a14:foregroundMark x1="55714" y1="3027" x2="55714" y2="3027"/>
                        <a14:foregroundMark x1="55952" y1="2678" x2="55952" y2="26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064" y="1854305"/>
            <a:ext cx="3079730" cy="31493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F5BFF9-409A-4A72-B7ED-725EA52D9036}"/>
              </a:ext>
            </a:extLst>
          </p:cNvPr>
          <p:cNvSpPr txBox="1"/>
          <p:nvPr/>
        </p:nvSpPr>
        <p:spPr>
          <a:xfrm>
            <a:off x="137160" y="930974"/>
            <a:ext cx="5029200" cy="707886"/>
          </a:xfrm>
          <a:prstGeom prst="rect">
            <a:avLst/>
          </a:prstGeom>
          <a:noFill/>
          <a:effectLst>
            <a:glow rad="101600">
              <a:srgbClr val="C90223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solidFill>
                  <a:schemeClr val="bg1"/>
                </a:solidFill>
                <a:effectLst>
                  <a:glow rad="101600">
                    <a:srgbClr val="1ECE29">
                      <a:alpha val="60000"/>
                    </a:srgb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VÌ SAO CHẬM</a:t>
            </a:r>
            <a:endParaRPr lang="vi-VN" sz="5400" b="1">
              <a:solidFill>
                <a:schemeClr val="bg1"/>
              </a:solidFill>
              <a:effectLst>
                <a:glow rad="101600">
                  <a:srgbClr val="1ECE29">
                    <a:alpha val="60000"/>
                  </a:srgb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760720" y="822960"/>
            <a:ext cx="59436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0" y="1274246"/>
            <a:ext cx="5577840" cy="69762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7A1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Quét toàn bảng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Lấy một phần nhỏ nhưng đọc cả 2 triệu dòng (Q1: Table scan).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2606040"/>
            <a:ext cx="59436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43600" y="2934216"/>
            <a:ext cx="5577840" cy="9438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7A1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 kiện vô hiệu hóa index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YEAR(order_date) bọc cột (Q2); subquery tương quan chạy lại 10.000 lần (Q6).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4389120"/>
            <a:ext cx="59436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0" y="4717296"/>
            <a:ext cx="5577840" cy="9438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7A1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Khối lượng xử lý, thứ tự join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Q3 duyệt 2 triệu đơn rồi mới tra khách; Q5 gom 5,3 triệu dòng; Q7 sắp xếp rồi bỏ 1 triệu dòng.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6217920"/>
            <a:ext cx="594360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Đọc plan trước khi sửa: so rows= ước lượng với actual rows= thực tế.</a:t>
            </a:r>
          </a:p>
        </p:txBody>
      </p:sp>
    </p:spTree>
    <p:extLst>
      <p:ext uri="{BB962C8B-B14F-4D97-AF65-F5344CB8AC3E}">
        <p14:creationId xmlns:p14="http://schemas.microsoft.com/office/powerpoint/2010/main" val="377996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BAC770-AD14-4E93-82BA-106798125F0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4B693BEF-675C-40C8-801B-68C3F4F24D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151" b="95341" l="10000" r="90000">
                        <a14:foregroundMark x1="48000" y1="6989" x2="52333" y2="10573"/>
                        <a14:foregroundMark x1="50889" y1="2151" x2="50889" y2="2151"/>
                        <a14:foregroundMark x1="46444" y1="88889" x2="52444" y2="89247"/>
                        <a14:foregroundMark x1="52444" y1="89247" x2="56222" y2="89068"/>
                        <a14:foregroundMark x1="52556" y1="95341" x2="52556" y2="953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555" t="-1274" r="23360" b="1274"/>
          <a:stretch/>
        </p:blipFill>
        <p:spPr>
          <a:xfrm>
            <a:off x="10760050" y="5369169"/>
            <a:ext cx="1322768" cy="1488831"/>
          </a:xfrm>
          <a:prstGeom prst="rect">
            <a:avLst/>
          </a:prstGeom>
        </p:spPr>
      </p:pic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63456158-62F2-4F41-85EE-D6C0C543CC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84" b="91546" l="9977" r="92575">
                        <a14:foregroundMark x1="51972" y1="91546" x2="51972" y2="91546"/>
                        <a14:foregroundMark x1="17401" y1="23108" x2="17401" y2="23108"/>
                        <a14:foregroundMark x1="90255" y1="23913" x2="90255" y2="23913"/>
                        <a14:foregroundMark x1="88631" y1="20692" x2="88631" y2="20692"/>
                        <a14:foregroundMark x1="90951" y1="19726" x2="90951" y2="19726"/>
                        <a14:foregroundMark x1="92575" y1="21900" x2="92575" y2="21900"/>
                        <a14:foregroundMark x1="86311" y1="28663" x2="86311" y2="28663"/>
                        <a14:foregroundMark x1="86311" y1="31481" x2="86311" y2="31481"/>
                        <a14:foregroundMark x1="27610" y1="53704" x2="27610" y2="53704"/>
                        <a14:foregroundMark x1="29234" y1="48712" x2="27842" y2="54428"/>
                        <a14:foregroundMark x1="25754" y1="50483" x2="25754" y2="52818"/>
                        <a14:foregroundMark x1="27146" y1="55717" x2="27146" y2="62480"/>
                        <a14:foregroundMark x1="25522" y1="72625" x2="25522" y2="72625"/>
                        <a14:foregroundMark x1="26914" y1="69324" x2="26914" y2="69324"/>
                        <a14:foregroundMark x1="26914" y1="66908" x2="26914" y2="66908"/>
                        <a14:foregroundMark x1="26218" y1="40016" x2="26218" y2="40016"/>
                        <a14:foregroundMark x1="26914" y1="46940" x2="26914" y2="46940"/>
                        <a14:foregroundMark x1="26450" y1="45733" x2="26450" y2="45733"/>
                        <a14:foregroundMark x1="26218" y1="44042" x2="26218" y2="44042"/>
                        <a14:foregroundMark x1="26450" y1="33414" x2="26450" y2="33414"/>
                        <a14:foregroundMark x1="23666" y1="31320" x2="23666" y2="31320"/>
                        <a14:foregroundMark x1="25754" y1="42593" x2="25754" y2="42593"/>
                        <a14:foregroundMark x1="25058" y1="48229" x2="25058" y2="48229"/>
                        <a14:backgroundMark x1="97216" y1="25684" x2="97216" y2="25684"/>
                        <a14:backgroundMark x1="16241" y1="37198" x2="22042" y2="4694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379870" cy="6858000"/>
          </a:xfrm>
          <a:prstGeom prst="rect">
            <a:avLst/>
          </a:prstGeom>
        </p:spPr>
      </p:pic>
      <p:pic>
        <p:nvPicPr>
          <p:cNvPr id="12" name="Picture 11" descr="A picture containing bird, bird of prey, silhouette&#10;&#10;Description automatically generated">
            <a:extLst>
              <a:ext uri="{FF2B5EF4-FFF2-40B4-BE49-F238E27FC236}">
                <a16:creationId xmlns:a16="http://schemas.microsoft.com/office/drawing/2014/main" id="{4463BFBB-FB8E-4DAD-B759-DE073DEF76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667" b="93667" l="8372" r="88372">
                        <a14:foregroundMark x1="30698" y1="89333" x2="30698" y2="89333"/>
                        <a14:foregroundMark x1="31628" y1="93667" x2="31628" y2="93667"/>
                        <a14:foregroundMark x1="40000" y1="8000" x2="40000" y2="8000"/>
                        <a14:foregroundMark x1="49302" y1="5667" x2="49302" y2="5667"/>
                        <a14:foregroundMark x1="38605" y1="3667" x2="38605" y2="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705353" flipH="1">
            <a:off x="3099994" y="-55702"/>
            <a:ext cx="893629" cy="1212679"/>
          </a:xfrm>
          <a:prstGeom prst="rect">
            <a:avLst/>
          </a:prstGeom>
        </p:spPr>
      </p:pic>
      <p:pic>
        <p:nvPicPr>
          <p:cNvPr id="13" name="Picture 12" descr="A picture containing bird, bird of prey, silhouette&#10;&#10;Description automatically generated">
            <a:extLst>
              <a:ext uri="{FF2B5EF4-FFF2-40B4-BE49-F238E27FC236}">
                <a16:creationId xmlns:a16="http://schemas.microsoft.com/office/drawing/2014/main" id="{794FA0B3-05D6-4A67-95EC-C37204BA90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667" b="93667" l="8372" r="88372">
                        <a14:foregroundMark x1="30698" y1="89333" x2="30698" y2="89333"/>
                        <a14:foregroundMark x1="31628" y1="93667" x2="31628" y2="93667"/>
                        <a14:foregroundMark x1="40000" y1="8000" x2="40000" y2="8000"/>
                        <a14:foregroundMark x1="49302" y1="5667" x2="49302" y2="5667"/>
                        <a14:foregroundMark x1="38605" y1="3667" x2="38605" y2="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320300">
            <a:off x="8337178" y="-68441"/>
            <a:ext cx="803335" cy="121267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2400818-9B95-47CC-8AE6-C98E1B31BBA6}"/>
              </a:ext>
            </a:extLst>
          </p:cNvPr>
          <p:cNvSpPr txBox="1"/>
          <p:nvPr/>
        </p:nvSpPr>
        <p:spPr>
          <a:xfrm>
            <a:off x="4296690" y="126043"/>
            <a:ext cx="3758895" cy="553998"/>
          </a:xfrm>
          <a:prstGeom prst="rect">
            <a:avLst/>
          </a:prstGeo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000" b="1">
                <a:solidFill>
                  <a:srgbClr val="2071D3"/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TỐI ƯU CƠ BẢN</a:t>
            </a:r>
            <a:endParaRPr lang="vi-VN" sz="5400" b="1">
              <a:solidFill>
                <a:srgbClr val="2071D3"/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113EFE6-CA9F-45FA-878D-EAA44F61B145}"/>
              </a:ext>
            </a:extLst>
          </p:cNvPr>
          <p:cNvCxnSpPr/>
          <p:nvPr/>
        </p:nvCxnSpPr>
        <p:spPr>
          <a:xfrm>
            <a:off x="4268206" y="996787"/>
            <a:ext cx="3882959" cy="0"/>
          </a:xfrm>
          <a:prstGeom prst="line">
            <a:avLst/>
          </a:prstGeom>
          <a:ln w="19050">
            <a:solidFill>
              <a:srgbClr val="2071D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691321E-FB0F-4E8B-B3C4-FE027F7B55D6}"/>
              </a:ext>
            </a:extLst>
          </p:cNvPr>
          <p:cNvCxnSpPr>
            <a:cxnSpLocks/>
          </p:cNvCxnSpPr>
          <p:nvPr/>
        </p:nvCxnSpPr>
        <p:spPr>
          <a:xfrm>
            <a:off x="4445710" y="1143270"/>
            <a:ext cx="3460853" cy="0"/>
          </a:xfrm>
          <a:prstGeom prst="line">
            <a:avLst/>
          </a:prstGeom>
          <a:ln w="19050">
            <a:solidFill>
              <a:srgbClr val="2071D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743200" y="1554480"/>
          <a:ext cx="84124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Kỹ thuật</a:t>
                      </a:r>
                    </a:p>
                  </a:txBody>
                  <a:tcPr anchor="ctr"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Truy vấn</a:t>
                      </a:r>
                    </a:p>
                  </a:txBody>
                  <a:tcPr anchor="ctr"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Trước → sau</a:t>
                      </a:r>
                    </a:p>
                  </a:txBody>
                  <a:tcPr anchor="ctr"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Tăng tốc</a:t>
                      </a:r>
                    </a:p>
                  </a:txBody>
                  <a:tcPr anchor="ctr">
                    <a:solidFill>
                      <a:srgbClr val="1F2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2118"/>
                          </a:solidFill>
                          <a:latin typeface="Calibri"/>
                        </a:rPr>
                        <a:t>Index đơn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2118"/>
                          </a:solidFill>
                          <a:latin typeface="Calibri"/>
                        </a:rPr>
                        <a:t>Q3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2118"/>
                          </a:solidFill>
                          <a:latin typeface="Calibri"/>
                        </a:rPr>
                        <a:t>19,71 s → 0,0020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7A1020"/>
                          </a:solidFill>
                          <a:latin typeface="Calibri"/>
                        </a:rPr>
                        <a:t>≈ 9.900×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2118"/>
                          </a:solidFill>
                          <a:latin typeface="Calibri"/>
                        </a:rPr>
                        <a:t>Index đơn</a:t>
                      </a:r>
                    </a:p>
                  </a:txBody>
                  <a:tcPr anchor="ctr"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2118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anchor="ctr"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2118"/>
                          </a:solidFill>
                          <a:latin typeface="Calibri"/>
                        </a:rPr>
                        <a:t>4,612 s → 0,3128 s</a:t>
                      </a:r>
                    </a:p>
                  </a:txBody>
                  <a:tcPr anchor="ctr"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7A1020"/>
                          </a:solidFill>
                          <a:latin typeface="Calibri"/>
                        </a:rPr>
                        <a:t>≈ 15×</a:t>
                      </a:r>
                    </a:p>
                  </a:txBody>
                  <a:tcPr anchor="ctr">
                    <a:solidFill>
                      <a:srgbClr val="EA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2118"/>
                          </a:solidFill>
                          <a:latin typeface="Calibri"/>
                        </a:rPr>
                        <a:t>Bỏ hàm bọc cột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2118"/>
                          </a:solidFill>
                          <a:latin typeface="Calibri"/>
                        </a:rPr>
                        <a:t>Q2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2118"/>
                          </a:solidFill>
                          <a:latin typeface="Calibri"/>
                        </a:rPr>
                        <a:t>3,543 s → 0,1792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7A1020"/>
                          </a:solidFill>
                          <a:latin typeface="Calibri"/>
                        </a:rPr>
                        <a:t>≈ 20×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2118"/>
                          </a:solidFill>
                          <a:latin typeface="Calibri"/>
                        </a:rPr>
                        <a:t>Subquery → JOIN</a:t>
                      </a:r>
                    </a:p>
                  </a:txBody>
                  <a:tcPr anchor="ctr"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2118"/>
                          </a:solidFill>
                          <a:latin typeface="Calibri"/>
                        </a:rPr>
                        <a:t>Q6A</a:t>
                      </a:r>
                    </a:p>
                  </a:txBody>
                  <a:tcPr anchor="ctr"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2118"/>
                          </a:solidFill>
                          <a:latin typeface="Calibri"/>
                        </a:rPr>
                        <a:t>112,67 s → 0,0455 s</a:t>
                      </a:r>
                    </a:p>
                  </a:txBody>
                  <a:tcPr anchor="ctr"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7A1020"/>
                          </a:solidFill>
                          <a:latin typeface="Calibri"/>
                        </a:rPr>
                        <a:t>≈ 2.500×</a:t>
                      </a:r>
                    </a:p>
                  </a:txBody>
                  <a:tcPr anchor="ctr">
                    <a:solidFill>
                      <a:srgbClr val="EA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2118"/>
                          </a:solidFill>
                          <a:latin typeface="Calibri"/>
                        </a:rPr>
                        <a:t>Keyset pagination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2118"/>
                          </a:solidFill>
                          <a:latin typeface="Calibri"/>
                        </a:rPr>
                        <a:t>Q7A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2118"/>
                          </a:solidFill>
                          <a:latin typeface="Calibri"/>
                        </a:rPr>
                        <a:t>6,511 s → 0,0026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7A1020"/>
                          </a:solidFill>
                          <a:latin typeface="Calibri"/>
                        </a:rPr>
                        <a:t>≈ 2.500×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743200" y="5349240"/>
            <a:ext cx="786384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Q2: chỉ thêm index (không sửa truy vấn) lại chậm hơn: 3,543 s → 4,258 s. Hàm YEAR()/MONTH() bọc cột làm index vô dụng.</a:t>
            </a:r>
          </a:p>
        </p:txBody>
      </p:sp>
    </p:spTree>
    <p:extLst>
      <p:ext uri="{BB962C8B-B14F-4D97-AF65-F5344CB8AC3E}">
        <p14:creationId xmlns:p14="http://schemas.microsoft.com/office/powerpoint/2010/main" val="2810259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9ED8FF-4558-434F-9EE3-E77BB8386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1AB2BFC-E12D-4A72-B4CD-87B2BB7F572A}"/>
              </a:ext>
            </a:extLst>
          </p:cNvPr>
          <p:cNvSpPr/>
          <p:nvPr/>
        </p:nvSpPr>
        <p:spPr>
          <a:xfrm>
            <a:off x="0" y="0"/>
            <a:ext cx="12186666" cy="6858000"/>
          </a:xfrm>
          <a:prstGeom prst="rect">
            <a:avLst/>
          </a:prstGeom>
          <a:solidFill>
            <a:srgbClr val="F0AC05"/>
          </a:solidFill>
          <a:ln>
            <a:noFill/>
          </a:ln>
          <a:effectLst>
            <a:glow rad="101600">
              <a:srgbClr val="F0AC05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B32D63-110A-48EF-91F9-EE3358189BE3}"/>
              </a:ext>
            </a:extLst>
          </p:cNvPr>
          <p:cNvSpPr/>
          <p:nvPr/>
        </p:nvSpPr>
        <p:spPr>
          <a:xfrm rot="19534831">
            <a:off x="-1239424" y="439115"/>
            <a:ext cx="3739487" cy="24724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E6B794-838A-4F9D-95E5-7B0DCAA7BDF6}"/>
              </a:ext>
            </a:extLst>
          </p:cNvPr>
          <p:cNvSpPr/>
          <p:nvPr/>
        </p:nvSpPr>
        <p:spPr>
          <a:xfrm rot="19534831">
            <a:off x="-968777" y="679663"/>
            <a:ext cx="3921226" cy="30375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DBB38F-99A1-459E-BD7E-A464D522D3F0}"/>
              </a:ext>
            </a:extLst>
          </p:cNvPr>
          <p:cNvSpPr/>
          <p:nvPr/>
        </p:nvSpPr>
        <p:spPr>
          <a:xfrm rot="19534831">
            <a:off x="-1060474" y="1000207"/>
            <a:ext cx="5046989" cy="27660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E45E8867-5F39-4CF8-BC04-112045DC3D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979" b="97439" l="10000" r="90000">
                        <a14:foregroundMark x1="46786" y1="9197" x2="57024" y2="11059"/>
                        <a14:foregroundMark x1="43095" y1="90221" x2="61786" y2="94296"/>
                        <a14:foregroundMark x1="48214" y1="97090" x2="51548" y2="97439"/>
                        <a14:foregroundMark x1="50476" y1="2328" x2="54167" y2="2794"/>
                        <a14:foregroundMark x1="56548" y1="2445" x2="58690" y2="4773"/>
                        <a14:foregroundMark x1="53452" y1="19441" x2="52857" y2="36787"/>
                        <a14:foregroundMark x1="52857" y1="36787" x2="52857" y2="36787"/>
                        <a14:foregroundMark x1="49167" y1="17346" x2="49405" y2="39232"/>
                        <a14:foregroundMark x1="48095" y1="2678" x2="48095" y2="6985"/>
                        <a14:foregroundMark x1="45000" y1="1979" x2="45000" y2="1979"/>
                        <a14:foregroundMark x1="43214" y1="2910" x2="43214" y2="2910"/>
                        <a14:foregroundMark x1="43810" y1="2678" x2="44167" y2="2678"/>
                        <a14:foregroundMark x1="45119" y1="31315" x2="46905" y2="39464"/>
                        <a14:backgroundMark x1="14762" y1="36438" x2="14762" y2="36438"/>
                        <a14:backgroundMark x1="19048" y1="45169" x2="19048" y2="45169"/>
                        <a14:backgroundMark x1="17381" y1="56461" x2="17381" y2="56461"/>
                        <a14:backgroundMark x1="19643" y1="80093" x2="19643" y2="80093"/>
                        <a14:backgroundMark x1="78810" y1="76368" x2="78810" y2="76368"/>
                        <a14:backgroundMark x1="80357" y1="72293" x2="80357" y2="722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3018" y="47137"/>
            <a:ext cx="2030502" cy="207642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219C7BC-1267-47E3-9224-D4DE968083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385" b="90154" l="10000" r="90000">
                        <a14:foregroundMark x1="51538" y1="9385" x2="51538" y2="9385"/>
                        <a14:foregroundMark x1="77846" y1="90154" x2="77846" y2="90154"/>
                        <a14:foregroundMark x1="66923" y1="89846" x2="66923" y2="89846"/>
                        <a14:foregroundMark x1="48462" y1="70000" x2="48462" y2="70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5941" y="6465979"/>
            <a:ext cx="1784093" cy="178409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6335248-7F26-444B-B99F-8086D36EC96D}"/>
              </a:ext>
            </a:extLst>
          </p:cNvPr>
          <p:cNvSpPr txBox="1"/>
          <p:nvPr/>
        </p:nvSpPr>
        <p:spPr>
          <a:xfrm>
            <a:off x="2441448" y="562241"/>
            <a:ext cx="7315200" cy="707886"/>
          </a:xfrm>
          <a:prstGeom prst="rect">
            <a:avLst/>
          </a:prstGeom>
          <a:noFill/>
          <a:effectLst>
            <a:glow rad="101600">
              <a:srgbClr val="C90223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TỐI ƯU NÂNG CAO</a:t>
            </a:r>
            <a:endParaRPr lang="vi-VN" sz="6600" b="1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1520" y="2286000"/>
            <a:ext cx="347472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0120" y="2446020"/>
            <a:ext cx="3017520" cy="1579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Covering index</a:t>
            </a:r>
          </a:p>
          <a:p>
            <a:pPr algn="l">
              <a:spcAft>
                <a:spcPts val="400"/>
              </a:spcAft>
            </a:pPr>
            <a:r>
              <a:rPr sz="3600" b="1">
                <a:solidFill>
                  <a:srgbClr val="7A1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66× – 118×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Q1, Q2 không cần quay về bảng. Q4: 101,56 s → 21,00 s (4,8×).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2286000"/>
            <a:ext cx="347472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63440" y="2446020"/>
            <a:ext cx="3017520" cy="1579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Bảng tổng hợp</a:t>
            </a:r>
          </a:p>
          <a:p>
            <a:pPr algn="l">
              <a:spcAft>
                <a:spcPts val="400"/>
              </a:spcAft>
            </a:pPr>
            <a:r>
              <a:rPr sz="3600" b="1">
                <a:solidFill>
                  <a:srgbClr val="7A1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 9.500×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Q4S 9.492×, Q5S 1.393×, Q8S 52×. Đổi lại: dữ liệu có thể lỗi thời.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286000"/>
            <a:ext cx="347472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66760" y="2446020"/>
            <a:ext cx="3017520" cy="1579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Partition theo năm</a:t>
            </a:r>
          </a:p>
          <a:p>
            <a:pPr algn="l">
              <a:spcAft>
                <a:spcPts val="400"/>
              </a:spcAft>
            </a:pPr>
            <a:r>
              <a:rPr sz="3600" b="1">
                <a:solidFill>
                  <a:srgbClr val="7A1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5,8×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 quét khoảng 1/6 bảng (p2025). Khóa chính phải chứa order_date.</a:t>
            </a:r>
          </a:p>
        </p:txBody>
      </p:sp>
    </p:spTree>
    <p:extLst>
      <p:ext uri="{BB962C8B-B14F-4D97-AF65-F5344CB8AC3E}">
        <p14:creationId xmlns:p14="http://schemas.microsoft.com/office/powerpoint/2010/main" val="9683413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Cha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4AE222-BD0A-4FB7-9892-BA6F3CB4400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6E802D9-16AE-4C5D-B421-2EF890D50082}"/>
              </a:ext>
            </a:extLst>
          </p:cNvPr>
          <p:cNvSpPr/>
          <p:nvPr/>
        </p:nvSpPr>
        <p:spPr>
          <a:xfrm>
            <a:off x="217714" y="1226120"/>
            <a:ext cx="11785599" cy="5421423"/>
          </a:xfrm>
          <a:prstGeom prst="roundRect">
            <a:avLst>
              <a:gd name="adj" fmla="val 5246"/>
            </a:avLst>
          </a:prstGeom>
          <a:solidFill>
            <a:srgbClr val="A98A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C99A22-19CC-4052-9261-3A65F113E3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219" y="-358602"/>
            <a:ext cx="2021390" cy="20406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A90D7A-F6FD-4FC8-A938-78A70464D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694" y="-358602"/>
            <a:ext cx="2021390" cy="20406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F6C0E9-822E-4F45-9453-F66E4C895A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73" y="-407261"/>
            <a:ext cx="2021390" cy="20406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EB9400-7C22-41DD-AD82-0CEB520A1F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347963" y="-358602"/>
            <a:ext cx="2021390" cy="20406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A9E9B7-72C9-45A0-9265-B33F795DC2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003438" y="-358602"/>
            <a:ext cx="2021390" cy="20406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2F9BD7-7688-4463-A00C-7BE1AE2447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644399" y="-412807"/>
            <a:ext cx="2021390" cy="20406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295FB28-0A45-488E-B199-9F5FA42664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9481" y="5148568"/>
            <a:ext cx="4210638" cy="210531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C51674F-71EC-49CB-B067-97E290516AB3}"/>
              </a:ext>
            </a:extLst>
          </p:cNvPr>
          <p:cNvSpPr txBox="1"/>
          <p:nvPr/>
        </p:nvSpPr>
        <p:spPr>
          <a:xfrm>
            <a:off x="4934264" y="259117"/>
            <a:ext cx="25084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QUẢ</a:t>
            </a:r>
            <a:endParaRPr lang="vi-VN" sz="40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" name="Picture 35" descr="truoc_sau_toi_u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1417320"/>
            <a:ext cx="10058400" cy="448759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51560" y="6172200"/>
            <a:ext cx="731520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Thang logarit; số trên cột là mức tăng tốc so với baseline (trung bình).</a:t>
            </a:r>
          </a:p>
        </p:txBody>
      </p:sp>
    </p:spTree>
    <p:extLst>
      <p:ext uri="{BB962C8B-B14F-4D97-AF65-F5344CB8AC3E}">
        <p14:creationId xmlns:p14="http://schemas.microsoft.com/office/powerpoint/2010/main" val="154154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FDD535-0F84-4213-ABF2-71772D985B5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062C4FC-3A34-45D0-B40E-68E1FEBFA691}"/>
              </a:ext>
            </a:extLst>
          </p:cNvPr>
          <p:cNvSpPr/>
          <p:nvPr/>
        </p:nvSpPr>
        <p:spPr>
          <a:xfrm>
            <a:off x="732148" y="667337"/>
            <a:ext cx="10727703" cy="5794933"/>
          </a:xfrm>
          <a:prstGeom prst="roundRect">
            <a:avLst>
              <a:gd name="adj" fmla="val 2352"/>
            </a:avLst>
          </a:prstGeom>
          <a:solidFill>
            <a:schemeClr val="tx1">
              <a:lumMod val="95000"/>
              <a:lumOff val="5000"/>
              <a:alpha val="35000"/>
            </a:schemeClr>
          </a:solidFill>
          <a:ln w="76200">
            <a:solidFill>
              <a:srgbClr val="C9022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+mj-lt"/>
            </a:endParaRPr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AEA5AD0C-0270-4EA6-A44C-D6A4A36530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300" b="94800" l="10000" r="90000">
                        <a14:foregroundMark x1="51000" y1="6300" x2="53200" y2="10000"/>
                        <a14:foregroundMark x1="39800" y1="89700" x2="54800" y2="91000"/>
                        <a14:foregroundMark x1="50300" y1="94800" x2="50300" y2="94800"/>
                        <a14:foregroundMark x1="28900" y1="19000" x2="28900" y2="19000"/>
                        <a14:backgroundMark x1="28300" y1="19300" x2="28300" y2="19300"/>
                        <a14:backgroundMark x1="30700" y1="19200" x2="30700" y2="19200"/>
                        <a14:backgroundMark x1="28700" y1="19700" x2="28700" y2="19700"/>
                        <a14:backgroundMark x1="25200" y1="22200" x2="25200" y2="22200"/>
                        <a14:backgroundMark x1="25300" y1="24300" x2="25300" y2="24300"/>
                        <a14:backgroundMark x1="29300" y1="25400" x2="29300" y2="25400"/>
                        <a14:backgroundMark x1="20100" y1="30300" x2="20100" y2="30300"/>
                        <a14:backgroundMark x1="30400" y1="35600" x2="30400" y2="35600"/>
                        <a14:backgroundMark x1="35500" y1="36500" x2="35500" y2="36500"/>
                        <a14:backgroundMark x1="25600" y1="39200" x2="25600" y2="39200"/>
                        <a14:backgroundMark x1="26800" y1="39600" x2="26800" y2="39600"/>
                        <a14:backgroundMark x1="29900" y1="49200" x2="29900" y2="49200"/>
                        <a14:backgroundMark x1="30000" y1="45000" x2="30000" y2="45000"/>
                        <a14:backgroundMark x1="28000" y1="43000" x2="28000" y2="43000"/>
                        <a14:backgroundMark x1="23400" y1="44200" x2="23400" y2="44200"/>
                        <a14:backgroundMark x1="22000" y1="41100" x2="22000" y2="41100"/>
                        <a14:backgroundMark x1="20700" y1="39400" x2="20700" y2="39400"/>
                        <a14:backgroundMark x1="18700" y1="37700" x2="18700" y2="37700"/>
                        <a14:backgroundMark x1="29800" y1="59300" x2="29800" y2="59300"/>
                        <a14:backgroundMark x1="29300" y1="66800" x2="29300" y2="66800"/>
                        <a14:backgroundMark x1="26100" y1="67100" x2="26100" y2="67100"/>
                        <a14:backgroundMark x1="68700" y1="61400" x2="68700" y2="61400"/>
                        <a14:backgroundMark x1="68900" y1="59800" x2="68900" y2="59800"/>
                        <a14:backgroundMark x1="68500" y1="63800" x2="68500" y2="63800"/>
                        <a14:backgroundMark x1="70100" y1="63400" x2="70100" y2="63400"/>
                        <a14:backgroundMark x1="72200" y1="66300" x2="72200" y2="66300"/>
                        <a14:backgroundMark x1="73800" y1="69800" x2="73800" y2="69800"/>
                        <a14:backgroundMark x1="67500" y1="70700" x2="67500" y2="70700"/>
                        <a14:backgroundMark x1="73100" y1="24400" x2="73100" y2="24400"/>
                        <a14:backgroundMark x1="79100" y1="30100" x2="79100" y2="30100"/>
                        <a14:backgroundMark x1="76700" y1="31000" x2="76700" y2="31000"/>
                        <a14:backgroundMark x1="75200" y1="34000" x2="75200" y2="34000"/>
                        <a14:backgroundMark x1="67400" y1="33100" x2="67400" y2="33100"/>
                        <a14:backgroundMark x1="66800" y1="31900" x2="66800" y2="31900"/>
                        <a14:backgroundMark x1="69800" y1="36700" x2="69800" y2="36700"/>
                        <a14:backgroundMark x1="67900" y1="37300" x2="67900" y2="37300"/>
                        <a14:backgroundMark x1="70000" y1="40000" x2="70000" y2="40000"/>
                        <a14:backgroundMark x1="76000" y1="38800" x2="76000" y2="38800"/>
                        <a14:backgroundMark x1="74800" y1="36100" x2="74800" y2="36100"/>
                        <a14:backgroundMark x1="80500" y1="40000" x2="80500" y2="40000"/>
                        <a14:backgroundMark x1="82200" y1="37900" x2="82200" y2="37900"/>
                        <a14:backgroundMark x1="83300" y1="35000" x2="83300" y2="35000"/>
                        <a14:backgroundMark x1="78700" y1="42400" x2="78700" y2="42400"/>
                        <a14:backgroundMark x1="69800" y1="49200" x2="69800" y2="49200"/>
                        <a14:backgroundMark x1="69500" y1="45400" x2="69500" y2="45400"/>
                        <a14:backgroundMark x1="82500" y1="45200" x2="82500" y2="45200"/>
                        <a14:backgroundMark x1="78700" y1="43300" x2="78700" y2="43300"/>
                        <a14:backgroundMark x1="74300" y1="49400" x2="74300" y2="49400"/>
                        <a14:backgroundMark x1="71000" y1="55600" x2="71000" y2="556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988" y="0"/>
            <a:ext cx="1656271" cy="16562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AA71C7-97DA-4BDA-B98C-E50CD3085916}"/>
              </a:ext>
            </a:extLst>
          </p:cNvPr>
          <p:cNvSpPr txBox="1"/>
          <p:nvPr/>
        </p:nvSpPr>
        <p:spPr>
          <a:xfrm>
            <a:off x="2441448" y="742751"/>
            <a:ext cx="7315200" cy="646331"/>
          </a:xfrm>
          <a:prstGeom prst="rect">
            <a:avLst/>
          </a:prstGeom>
          <a:noFill/>
          <a:effectLst>
            <a:glow rad="101600">
              <a:srgbClr val="C90223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solidFill>
                  <a:schemeClr val="bg1"/>
                </a:solidFill>
                <a:effectLst/>
                <a:latin typeface="+mj-lt"/>
              </a:rPr>
              <a:t>CÁI GIÁ PHẢI TRẢ</a:t>
            </a:r>
            <a:endParaRPr lang="vi-VN" sz="4400" b="1">
              <a:solidFill>
                <a:schemeClr val="bg1"/>
              </a:solidFill>
              <a:effectLst/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19C807-E088-4494-BF30-09E1AC95ECE1}"/>
              </a:ext>
            </a:extLst>
          </p:cNvPr>
          <p:cNvSpPr/>
          <p:nvPr/>
        </p:nvSpPr>
        <p:spPr>
          <a:xfrm>
            <a:off x="-12234660" y="5835787"/>
            <a:ext cx="12186666" cy="426720"/>
          </a:xfrm>
          <a:prstGeom prst="rect">
            <a:avLst/>
          </a:prstGeom>
          <a:solidFill>
            <a:srgbClr val="C90223"/>
          </a:solidFill>
          <a:ln>
            <a:noFill/>
          </a:ln>
          <a:effectLst>
            <a:glow rad="101600">
              <a:srgbClr val="C90223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FD97046-B534-4084-8058-EE272698147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80" b="89920" l="9929" r="91135">
                        <a14:foregroundMark x1="91135" y1="56986" x2="91135" y2="56986"/>
                        <a14:foregroundMark x1="48936" y1="27246" x2="48936" y2="27246"/>
                        <a14:foregroundMark x1="63652" y1="27844" x2="63652" y2="27844"/>
                        <a14:foregroundMark x1="63475" y1="27844" x2="63475" y2="27844"/>
                        <a14:foregroundMark x1="62766" y1="27246" x2="62766" y2="27246"/>
                        <a14:foregroundMark x1="62766" y1="27246" x2="63652" y2="29541"/>
                        <a14:foregroundMark x1="62766" y1="27046" x2="62766" y2="27046"/>
                        <a14:foregroundMark x1="61348" y1="26647" x2="61348" y2="26647"/>
                        <a14:foregroundMark x1="53369" y1="25349" x2="53369" y2="25349"/>
                        <a14:foregroundMark x1="54787" y1="24750" x2="54787" y2="24750"/>
                        <a14:foregroundMark x1="43440" y1="69760" x2="43440" y2="69760"/>
                        <a14:backgroundMark x1="70567" y1="75549" x2="67908" y2="765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47" t="22166" b="21093"/>
          <a:stretch/>
        </p:blipFill>
        <p:spPr>
          <a:xfrm>
            <a:off x="-1605023" y="-929887"/>
            <a:ext cx="1461041" cy="15253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1533C4D-C0F1-4C60-9786-8688BA2090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600" l="8800" r="90000">
                        <a14:foregroundMark x1="8800" y1="57200" x2="8800" y2="57200"/>
                        <a14:foregroundMark x1="38667" y1="51000" x2="38667" y2="51000"/>
                        <a14:foregroundMark x1="56400" y1="45800" x2="56400" y2="45800"/>
                        <a14:foregroundMark x1="55200" y1="90200" x2="55200" y2="90200"/>
                        <a14:foregroundMark x1="42800" y1="90600" x2="42800" y2="90600"/>
                        <a14:foregroundMark x1="55467" y1="88900" x2="59467" y2="89300"/>
                        <a14:foregroundMark x1="38933" y1="51400" x2="38933" y2="514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385">
            <a:off x="10491914" y="4340828"/>
            <a:ext cx="1935872" cy="2581163"/>
          </a:xfrm>
          <a:prstGeom prst="rect">
            <a:avLst/>
          </a:prstGeom>
        </p:spPr>
      </p:pic>
      <p:pic>
        <p:nvPicPr>
          <p:cNvPr id="15" name="Picture 14" descr="chi_phi_danh_doi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1560" y="1691640"/>
            <a:ext cx="6766560" cy="259835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092440" y="1691640"/>
            <a:ext cx="2194560" cy="2596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0" y="2487386"/>
            <a:ext cx="1920240" cy="1005403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7A1020"/>
                </a:solidFill>
                <a:latin typeface="+mj-lt"/>
              </a:rPr>
              <a:t>136%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B2118"/>
                </a:solidFill>
                <a:latin typeface="+mj-lt"/>
              </a:rPr>
              <a:t>Index 444,3 MB so với dữ liệu 327,3 MB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4526280"/>
            <a:ext cx="4297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16151" y="4641494"/>
            <a:ext cx="3968496" cy="63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rgbClr val="7A1020"/>
                </a:solidFill>
                <a:latin typeface="+mj-lt"/>
              </a:rPr>
              <a:t>Bảng tổng hợp lỗi thời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B2118"/>
                </a:solidFill>
                <a:latin typeface="+mj-lt"/>
              </a:rPr>
              <a:t>Cập nhật tăng dần dưới 1 ms; xây lại cả bảng 19,8 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32120" y="4526280"/>
            <a:ext cx="47548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96712" y="4641494"/>
            <a:ext cx="4425696" cy="8515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rgbClr val="7A1020"/>
                </a:solidFill>
                <a:latin typeface="+mj-lt"/>
              </a:rPr>
              <a:t>Plan regression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B2118"/>
                </a:solidFill>
                <a:latin typeface="+mj-lt"/>
              </a:rPr>
              <a:t>Q7A: 0,0026 s → 9,788 s khi plan đổi; FORCE INDEX đưa về 0,0024 s.</a:t>
            </a:r>
          </a:p>
        </p:txBody>
      </p:sp>
    </p:spTree>
    <p:extLst>
      <p:ext uri="{BB962C8B-B14F-4D97-AF65-F5344CB8AC3E}">
        <p14:creationId xmlns:p14="http://schemas.microsoft.com/office/powerpoint/2010/main" val="226324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BAC770-AD14-4E93-82BA-106798125F0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4B693BEF-675C-40C8-801B-68C3F4F24D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151" b="95341" l="10000" r="90000">
                        <a14:foregroundMark x1="48000" y1="6989" x2="52333" y2="10573"/>
                        <a14:foregroundMark x1="50889" y1="2151" x2="50889" y2="2151"/>
                        <a14:foregroundMark x1="46444" y1="88889" x2="52444" y2="89247"/>
                        <a14:foregroundMark x1="52444" y1="89247" x2="56222" y2="89068"/>
                        <a14:foregroundMark x1="52556" y1="95341" x2="52556" y2="953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555" t="-1274" r="23360" b="1274"/>
          <a:stretch/>
        </p:blipFill>
        <p:spPr>
          <a:xfrm>
            <a:off x="10760050" y="5369169"/>
            <a:ext cx="1322768" cy="1488831"/>
          </a:xfrm>
          <a:prstGeom prst="rect">
            <a:avLst/>
          </a:prstGeom>
        </p:spPr>
      </p:pic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63456158-62F2-4F41-85EE-D6C0C543CC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84" b="91546" l="9977" r="92575">
                        <a14:foregroundMark x1="51972" y1="91546" x2="51972" y2="91546"/>
                        <a14:foregroundMark x1="17401" y1="23108" x2="17401" y2="23108"/>
                        <a14:foregroundMark x1="90255" y1="23913" x2="90255" y2="23913"/>
                        <a14:foregroundMark x1="88631" y1="20692" x2="88631" y2="20692"/>
                        <a14:foregroundMark x1="90951" y1="19726" x2="90951" y2="19726"/>
                        <a14:foregroundMark x1="92575" y1="21900" x2="92575" y2="21900"/>
                        <a14:foregroundMark x1="86311" y1="28663" x2="86311" y2="28663"/>
                        <a14:foregroundMark x1="86311" y1="31481" x2="86311" y2="31481"/>
                        <a14:foregroundMark x1="27610" y1="53704" x2="27610" y2="53704"/>
                        <a14:foregroundMark x1="29234" y1="48712" x2="27842" y2="54428"/>
                        <a14:foregroundMark x1="25754" y1="50483" x2="25754" y2="52818"/>
                        <a14:foregroundMark x1="27146" y1="55717" x2="27146" y2="62480"/>
                        <a14:foregroundMark x1="25522" y1="72625" x2="25522" y2="72625"/>
                        <a14:foregroundMark x1="26914" y1="69324" x2="26914" y2="69324"/>
                        <a14:foregroundMark x1="26914" y1="66908" x2="26914" y2="66908"/>
                        <a14:foregroundMark x1="26218" y1="40016" x2="26218" y2="40016"/>
                        <a14:foregroundMark x1="26914" y1="46940" x2="26914" y2="46940"/>
                        <a14:foregroundMark x1="26450" y1="45733" x2="26450" y2="45733"/>
                        <a14:foregroundMark x1="26218" y1="44042" x2="26218" y2="44042"/>
                        <a14:foregroundMark x1="26450" y1="33414" x2="26450" y2="33414"/>
                        <a14:foregroundMark x1="23666" y1="31320" x2="23666" y2="31320"/>
                        <a14:foregroundMark x1="25754" y1="42593" x2="25754" y2="42593"/>
                        <a14:foregroundMark x1="25058" y1="48229" x2="25058" y2="48229"/>
                        <a14:backgroundMark x1="97216" y1="25684" x2="97216" y2="25684"/>
                        <a14:backgroundMark x1="16241" y1="37198" x2="22042" y2="4694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379870" cy="6858000"/>
          </a:xfrm>
          <a:prstGeom prst="rect">
            <a:avLst/>
          </a:prstGeom>
        </p:spPr>
      </p:pic>
      <p:pic>
        <p:nvPicPr>
          <p:cNvPr id="12" name="Picture 11" descr="A picture containing bird, bird of prey, silhouette&#10;&#10;Description automatically generated">
            <a:extLst>
              <a:ext uri="{FF2B5EF4-FFF2-40B4-BE49-F238E27FC236}">
                <a16:creationId xmlns:a16="http://schemas.microsoft.com/office/drawing/2014/main" id="{4463BFBB-FB8E-4DAD-B759-DE073DEF76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667" b="93667" l="8372" r="88372">
                        <a14:foregroundMark x1="30698" y1="89333" x2="30698" y2="89333"/>
                        <a14:foregroundMark x1="31628" y1="93667" x2="31628" y2="93667"/>
                        <a14:foregroundMark x1="40000" y1="8000" x2="40000" y2="8000"/>
                        <a14:foregroundMark x1="49302" y1="5667" x2="49302" y2="5667"/>
                        <a14:foregroundMark x1="38605" y1="3667" x2="38605" y2="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705353" flipH="1">
            <a:off x="3099994" y="-55702"/>
            <a:ext cx="893629" cy="1212679"/>
          </a:xfrm>
          <a:prstGeom prst="rect">
            <a:avLst/>
          </a:prstGeom>
        </p:spPr>
      </p:pic>
      <p:pic>
        <p:nvPicPr>
          <p:cNvPr id="13" name="Picture 12" descr="A picture containing bird, bird of prey, silhouette&#10;&#10;Description automatically generated">
            <a:extLst>
              <a:ext uri="{FF2B5EF4-FFF2-40B4-BE49-F238E27FC236}">
                <a16:creationId xmlns:a16="http://schemas.microsoft.com/office/drawing/2014/main" id="{794FA0B3-05D6-4A67-95EC-C37204BA90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667" b="93667" l="8372" r="88372">
                        <a14:foregroundMark x1="30698" y1="89333" x2="30698" y2="89333"/>
                        <a14:foregroundMark x1="31628" y1="93667" x2="31628" y2="93667"/>
                        <a14:foregroundMark x1="40000" y1="8000" x2="40000" y2="8000"/>
                        <a14:foregroundMark x1="49302" y1="5667" x2="49302" y2="5667"/>
                        <a14:foregroundMark x1="38605" y1="3667" x2="38605" y2="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320300">
            <a:off x="8337178" y="-68441"/>
            <a:ext cx="803335" cy="121267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2400818-9B95-47CC-8AE6-C98E1B31BBA6}"/>
              </a:ext>
            </a:extLst>
          </p:cNvPr>
          <p:cNvSpPr txBox="1"/>
          <p:nvPr/>
        </p:nvSpPr>
        <p:spPr>
          <a:xfrm>
            <a:off x="4296690" y="126043"/>
            <a:ext cx="3758895" cy="707886"/>
          </a:xfrm>
          <a:prstGeom prst="rect">
            <a:avLst/>
          </a:prstGeo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solidFill>
                  <a:srgbClr val="2071D3"/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KẾT LUẬN</a:t>
            </a:r>
            <a:endParaRPr lang="vi-VN" sz="5400" b="1">
              <a:solidFill>
                <a:srgbClr val="2071D3"/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113EFE6-CA9F-45FA-878D-EAA44F61B145}"/>
              </a:ext>
            </a:extLst>
          </p:cNvPr>
          <p:cNvCxnSpPr/>
          <p:nvPr/>
        </p:nvCxnSpPr>
        <p:spPr>
          <a:xfrm>
            <a:off x="4268206" y="996787"/>
            <a:ext cx="3882959" cy="0"/>
          </a:xfrm>
          <a:prstGeom prst="line">
            <a:avLst/>
          </a:prstGeom>
          <a:ln w="19050">
            <a:solidFill>
              <a:srgbClr val="2071D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691321E-FB0F-4E8B-B3C4-FE027F7B55D6}"/>
              </a:ext>
            </a:extLst>
          </p:cNvPr>
          <p:cNvCxnSpPr>
            <a:cxnSpLocks/>
          </p:cNvCxnSpPr>
          <p:nvPr/>
        </p:nvCxnSpPr>
        <p:spPr>
          <a:xfrm>
            <a:off x="4445710" y="1143270"/>
            <a:ext cx="3460853" cy="0"/>
          </a:xfrm>
          <a:prstGeom prst="line">
            <a:avLst/>
          </a:prstGeom>
          <a:ln w="19050">
            <a:solidFill>
              <a:srgbClr val="2071D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743200" y="1554480"/>
            <a:ext cx="82296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17520" y="2265471"/>
            <a:ext cx="7680960" cy="214417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Đọc plan trước khi sửa: nguyên nhân thường không như ta đoán.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Index đúng chỗ cho mức tăng lớn nhất (Q3: 19,7 s → 2,2 ms).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Hàm bọc cột vô hiệu hóa index: phải viết lại (Q2: ≈ 20×).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Index không giảm lượng dữ liệu phải xử lý; bảng tổng hợp thì có, nhưng lỗi thời.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2B21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Mọi tối ưu có giá, và plan có thể đổi: đo lại sau mỗi thay đổi.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394960"/>
            <a:ext cx="786384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2A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 → đọc plan → chọn kỹ thuật → đo lại</a:t>
            </a:r>
          </a:p>
        </p:txBody>
      </p:sp>
    </p:spTree>
    <p:extLst>
      <p:ext uri="{BB962C8B-B14F-4D97-AF65-F5344CB8AC3E}">
        <p14:creationId xmlns:p14="http://schemas.microsoft.com/office/powerpoint/2010/main" val="2810259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7302E8A-A987-45F4-9D46-659149DEA5F7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5" name="Picture 4" descr="A picture containing old, indoor, painting, ceiling&#10;&#10;Description automatically generated">
              <a:extLst>
                <a:ext uri="{FF2B5EF4-FFF2-40B4-BE49-F238E27FC236}">
                  <a16:creationId xmlns:a16="http://schemas.microsoft.com/office/drawing/2014/main" id="{C4A325CB-7CCF-4335-BAF3-6C3B869392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tx1"/>
            </a:solidFill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13A3F1D-FCB8-4FB5-8C4D-C27BE109065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dk1">
                <a:alpha val="38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0F34D11-04DB-4767-AF19-AE0A32F62544}"/>
              </a:ext>
            </a:extLst>
          </p:cNvPr>
          <p:cNvSpPr txBox="1"/>
          <p:nvPr/>
        </p:nvSpPr>
        <p:spPr>
          <a:xfrm>
            <a:off x="996778" y="2705725"/>
            <a:ext cx="1119522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>
                <a:solidFill>
                  <a:schemeClr val="bg1"/>
                </a:solidFill>
                <a:latin typeface="Harry P" panose="00000400000000000000" pitchFamily="2" charset="0"/>
              </a:rPr>
              <a:t>CẢM ƠN ĐÃ</a:t>
            </a:r>
            <a:endParaRPr lang="vi-VN" sz="8800">
              <a:solidFill>
                <a:schemeClr val="bg1"/>
              </a:solidFill>
            </a:endParaRPr>
          </a:p>
          <a:p>
            <a:r>
              <a:rPr lang="en-US" sz="6600">
                <a:solidFill>
                  <a:schemeClr val="bg1"/>
                </a:solidFill>
                <a:latin typeface="Harry P" panose="00000400000000000000" pitchFamily="2" charset="0"/>
              </a:rPr>
              <a:t>LẮNG NGHE!</a:t>
            </a:r>
            <a:endParaRPr lang="vi-VN" sz="8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00964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</TotalTime>
  <Words>758</Words>
  <Application>Microsoft Office PowerPoint</Application>
  <PresentationFormat>Widescreen</PresentationFormat>
  <Paragraphs>107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Harry P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Công Nguyễn</dc:creator>
  <cp:lastModifiedBy>Pham Ba Hieu</cp:lastModifiedBy>
  <cp:revision>26</cp:revision>
  <dcterms:created xsi:type="dcterms:W3CDTF">2021-06-28T14:26:03Z</dcterms:created>
  <dcterms:modified xsi:type="dcterms:W3CDTF">2026-10-13T07:18:25Z</dcterms:modified>
</cp:coreProperties>
</file>